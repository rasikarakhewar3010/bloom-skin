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1" r:id="rId4"/>
    <p:sldId id="262" r:id="rId5"/>
    <p:sldId id="263" r:id="rId6"/>
    <p:sldId id="264" r:id="rId7"/>
    <p:sldId id="277" r:id="rId8"/>
    <p:sldId id="276" r:id="rId9"/>
  </p:sldIdLst>
  <p:sldSz cx="18288000" cy="10287000"/>
  <p:notesSz cx="6858000" cy="9144000"/>
  <p:embeddedFontLst>
    <p:embeddedFont>
      <p:font typeface="Canva Sans" panose="020B0604020202020204" charset="0"/>
      <p:regular r:id="rId10"/>
    </p:embeddedFont>
    <p:embeddedFont>
      <p:font typeface="Canva Sans Bold" panose="020B0604020202020204" charset="0"/>
      <p:regular r:id="rId11"/>
    </p:embeddedFont>
    <p:embeddedFont>
      <p:font typeface="IBM Plex Serif" panose="02060503050406000203" pitchFamily="18" charset="0"/>
      <p:regular r:id="rId12"/>
      <p:bold r:id="rId13"/>
    </p:embeddedFont>
    <p:embeddedFont>
      <p:font typeface="Open Sans Bold" panose="020B0604020202020204" charset="0"/>
      <p:regular r:id="rId14"/>
    </p:embeddedFont>
    <p:embeddedFont>
      <p:font typeface="Times New Roman Bold" panose="02020803070505020304" pitchFamily="18"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2590">
            <a:off x="3602814" y="5283288"/>
            <a:ext cx="13003320"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1940482" y="788637"/>
            <a:ext cx="16849287" cy="1466433"/>
            <a:chOff x="0" y="0"/>
            <a:chExt cx="22465716" cy="1955244"/>
          </a:xfrm>
        </p:grpSpPr>
        <p:sp>
          <p:nvSpPr>
            <p:cNvPr id="9" name="Freeform 9"/>
            <p:cNvSpPr/>
            <p:nvPr/>
          </p:nvSpPr>
          <p:spPr>
            <a:xfrm>
              <a:off x="0" y="0"/>
              <a:ext cx="22465716" cy="1955244"/>
            </a:xfrm>
            <a:custGeom>
              <a:avLst/>
              <a:gdLst/>
              <a:ahLst/>
              <a:cxnLst/>
              <a:rect l="l" t="t" r="r" b="b"/>
              <a:pathLst>
                <a:path w="22465716" h="1955244">
                  <a:moveTo>
                    <a:pt x="0" y="0"/>
                  </a:moveTo>
                  <a:lnTo>
                    <a:pt x="22465716" y="0"/>
                  </a:lnTo>
                  <a:lnTo>
                    <a:pt x="22465716" y="1955244"/>
                  </a:lnTo>
                  <a:lnTo>
                    <a:pt x="0" y="1955244"/>
                  </a:lnTo>
                  <a:close/>
                </a:path>
              </a:pathLst>
            </a:custGeom>
            <a:solidFill>
              <a:srgbClr val="000000">
                <a:alpha val="0"/>
              </a:srgbClr>
            </a:solidFill>
          </p:spPr>
        </p:sp>
        <p:sp>
          <p:nvSpPr>
            <p:cNvPr id="10" name="TextBox 10"/>
            <p:cNvSpPr txBox="1"/>
            <p:nvPr/>
          </p:nvSpPr>
          <p:spPr>
            <a:xfrm>
              <a:off x="0" y="-38100"/>
              <a:ext cx="22465716" cy="1993344"/>
            </a:xfrm>
            <a:prstGeom prst="rect">
              <a:avLst/>
            </a:prstGeom>
          </p:spPr>
          <p:txBody>
            <a:bodyPr lIns="0" tIns="0" rIns="0" bIns="0" rtlCol="0" anchor="b"/>
            <a:lstStyle/>
            <a:p>
              <a:pPr algn="ctr">
                <a:lnSpc>
                  <a:spcPts val="5184"/>
                </a:lnSpc>
              </a:pPr>
              <a:r>
                <a:rPr lang="en-US" sz="4800" b="1">
                  <a:solidFill>
                    <a:srgbClr val="000000"/>
                  </a:solidFill>
                  <a:latin typeface="Times New Roman Bold"/>
                  <a:ea typeface="Times New Roman Bold"/>
                  <a:cs typeface="Times New Roman Bold"/>
                  <a:sym typeface="Times New Roman Bold"/>
                </a:rPr>
                <a:t>MGM’s College of Engineering, Nanded</a:t>
              </a:r>
            </a:p>
            <a:p>
              <a:pPr algn="ctr">
                <a:lnSpc>
                  <a:spcPts val="5184"/>
                </a:lnSpc>
              </a:pPr>
              <a:r>
                <a:rPr lang="en-US" sz="4800" b="1">
                  <a:solidFill>
                    <a:srgbClr val="000000"/>
                  </a:solidFill>
                  <a:latin typeface="Times New Roman Bold"/>
                  <a:ea typeface="Times New Roman Bold"/>
                  <a:cs typeface="Times New Roman Bold"/>
                  <a:sym typeface="Times New Roman Bold"/>
                </a:rPr>
                <a:t>Department of Computer Science and Engineering</a:t>
              </a:r>
            </a:p>
          </p:txBody>
        </p:sp>
      </p:grpSp>
      <p:grpSp>
        <p:nvGrpSpPr>
          <p:cNvPr id="11" name="Group 11"/>
          <p:cNvGrpSpPr/>
          <p:nvPr/>
        </p:nvGrpSpPr>
        <p:grpSpPr>
          <a:xfrm>
            <a:off x="795274" y="3488696"/>
            <a:ext cx="16951726" cy="2093214"/>
            <a:chOff x="0" y="0"/>
            <a:chExt cx="22602302" cy="2790952"/>
          </a:xfrm>
        </p:grpSpPr>
        <p:sp>
          <p:nvSpPr>
            <p:cNvPr id="12" name="Freeform 12"/>
            <p:cNvSpPr/>
            <p:nvPr/>
          </p:nvSpPr>
          <p:spPr>
            <a:xfrm>
              <a:off x="0" y="0"/>
              <a:ext cx="22602303" cy="2790952"/>
            </a:xfrm>
            <a:custGeom>
              <a:avLst/>
              <a:gdLst/>
              <a:ahLst/>
              <a:cxnLst/>
              <a:rect l="l" t="t" r="r" b="b"/>
              <a:pathLst>
                <a:path w="22602303" h="2790952">
                  <a:moveTo>
                    <a:pt x="0" y="0"/>
                  </a:moveTo>
                  <a:lnTo>
                    <a:pt x="22602303" y="0"/>
                  </a:lnTo>
                  <a:lnTo>
                    <a:pt x="22602303" y="2790952"/>
                  </a:lnTo>
                  <a:lnTo>
                    <a:pt x="0" y="2790952"/>
                  </a:lnTo>
                  <a:close/>
                </a:path>
              </a:pathLst>
            </a:custGeom>
            <a:solidFill>
              <a:srgbClr val="000000">
                <a:alpha val="0"/>
              </a:srgbClr>
            </a:solidFill>
          </p:spPr>
        </p:sp>
        <p:sp>
          <p:nvSpPr>
            <p:cNvPr id="13" name="TextBox 13"/>
            <p:cNvSpPr txBox="1"/>
            <p:nvPr/>
          </p:nvSpPr>
          <p:spPr>
            <a:xfrm>
              <a:off x="0" y="-85725"/>
              <a:ext cx="22602302" cy="2876677"/>
            </a:xfrm>
            <a:prstGeom prst="rect">
              <a:avLst/>
            </a:prstGeom>
          </p:spPr>
          <p:txBody>
            <a:bodyPr lIns="0" tIns="0" rIns="0" bIns="0" rtlCol="0" anchor="t"/>
            <a:lstStyle/>
            <a:p>
              <a:pPr algn="ctr">
                <a:lnSpc>
                  <a:spcPts val="5040"/>
                </a:lnSpc>
              </a:pPr>
              <a:r>
                <a:rPr lang="en-US" sz="4200" b="1" dirty="0">
                  <a:solidFill>
                    <a:srgbClr val="000000"/>
                  </a:solidFill>
                  <a:latin typeface="Times New Roman Bold"/>
                  <a:ea typeface="Times New Roman Bold"/>
                  <a:cs typeface="Times New Roman Bold"/>
                  <a:sym typeface="Times New Roman Bold"/>
                </a:rPr>
                <a:t>Project</a:t>
              </a:r>
            </a:p>
            <a:p>
              <a:pPr algn="ctr">
                <a:lnSpc>
                  <a:spcPts val="5040"/>
                </a:lnSpc>
              </a:pPr>
              <a:r>
                <a:rPr lang="en-US" sz="4200" b="1" dirty="0">
                  <a:solidFill>
                    <a:srgbClr val="000000"/>
                  </a:solidFill>
                  <a:latin typeface="Times New Roman Bold"/>
                  <a:ea typeface="Times New Roman Bold"/>
                  <a:cs typeface="Times New Roman Bold"/>
                  <a:sym typeface="Times New Roman Bold"/>
                </a:rPr>
                <a:t>Topic : Bloom Skin </a:t>
              </a:r>
            </a:p>
            <a:p>
              <a:pPr algn="ctr">
                <a:lnSpc>
                  <a:spcPts val="5040"/>
                </a:lnSpc>
              </a:pPr>
              <a:endParaRPr lang="en-US" sz="4200" b="1" dirty="0">
                <a:solidFill>
                  <a:srgbClr val="000000"/>
                </a:solidFill>
                <a:latin typeface="Times New Roman Bold"/>
                <a:ea typeface="Times New Roman Bold"/>
                <a:cs typeface="Times New Roman Bold"/>
                <a:sym typeface="Times New Roman Bold"/>
              </a:endParaRPr>
            </a:p>
          </p:txBody>
        </p:sp>
      </p:grpSp>
      <p:grpSp>
        <p:nvGrpSpPr>
          <p:cNvPr id="14" name="Group 14"/>
          <p:cNvGrpSpPr/>
          <p:nvPr/>
        </p:nvGrpSpPr>
        <p:grpSpPr>
          <a:xfrm>
            <a:off x="795274" y="5958531"/>
            <a:ext cx="7520985" cy="1854803"/>
            <a:chOff x="0" y="0"/>
            <a:chExt cx="10027980" cy="2473071"/>
          </a:xfrm>
        </p:grpSpPr>
        <p:sp>
          <p:nvSpPr>
            <p:cNvPr id="15" name="Freeform 15"/>
            <p:cNvSpPr/>
            <p:nvPr/>
          </p:nvSpPr>
          <p:spPr>
            <a:xfrm>
              <a:off x="0" y="0"/>
              <a:ext cx="10027980" cy="2473071"/>
            </a:xfrm>
            <a:custGeom>
              <a:avLst/>
              <a:gdLst/>
              <a:ahLst/>
              <a:cxnLst/>
              <a:rect l="l" t="t" r="r" b="b"/>
              <a:pathLst>
                <a:path w="10027980" h="2473071">
                  <a:moveTo>
                    <a:pt x="0" y="0"/>
                  </a:moveTo>
                  <a:lnTo>
                    <a:pt x="10027980" y="0"/>
                  </a:lnTo>
                  <a:lnTo>
                    <a:pt x="10027980" y="2473071"/>
                  </a:lnTo>
                  <a:lnTo>
                    <a:pt x="0" y="2473071"/>
                  </a:lnTo>
                  <a:close/>
                </a:path>
              </a:pathLst>
            </a:custGeom>
            <a:solidFill>
              <a:srgbClr val="000000">
                <a:alpha val="0"/>
              </a:srgbClr>
            </a:solidFill>
          </p:spPr>
        </p:sp>
        <p:sp>
          <p:nvSpPr>
            <p:cNvPr id="16" name="TextBox 16"/>
            <p:cNvSpPr txBox="1"/>
            <p:nvPr/>
          </p:nvSpPr>
          <p:spPr>
            <a:xfrm>
              <a:off x="0" y="-66675"/>
              <a:ext cx="10027980" cy="2539746"/>
            </a:xfrm>
            <a:prstGeom prst="rect">
              <a:avLst/>
            </a:prstGeom>
          </p:spPr>
          <p:txBody>
            <a:bodyPr lIns="0" tIns="0" rIns="0" bIns="0" rtlCol="0" anchor="t"/>
            <a:lstStyle/>
            <a:p>
              <a:pPr algn="l">
                <a:lnSpc>
                  <a:spcPts val="3600"/>
                </a:lnSpc>
              </a:pPr>
              <a:r>
                <a:rPr lang="en-US" sz="3000" b="1" dirty="0">
                  <a:solidFill>
                    <a:srgbClr val="000000"/>
                  </a:solidFill>
                  <a:latin typeface="Times New Roman Bold"/>
                  <a:ea typeface="Times New Roman Bold"/>
                  <a:cs typeface="Times New Roman Bold"/>
                  <a:sym typeface="Times New Roman Bold"/>
                </a:rPr>
                <a:t>Presented by:</a:t>
              </a:r>
            </a:p>
            <a:p>
              <a:pPr algn="l">
                <a:lnSpc>
                  <a:spcPts val="3600"/>
                </a:lnSpc>
              </a:pPr>
              <a:r>
                <a:rPr lang="en-US" sz="3000" dirty="0">
                  <a:solidFill>
                    <a:srgbClr val="000000"/>
                  </a:solidFill>
                  <a:latin typeface="Times New Roman"/>
                  <a:ea typeface="Times New Roman"/>
                  <a:cs typeface="Times New Roman"/>
                  <a:sym typeface="Times New Roman"/>
                </a:rPr>
                <a:t>Miss. Talat Siddiqui</a:t>
              </a:r>
              <a:r>
                <a:rPr lang="en-US" sz="3000" b="1" dirty="0">
                  <a:solidFill>
                    <a:srgbClr val="000000"/>
                  </a:solidFill>
                  <a:latin typeface="Times New Roman Bold"/>
                  <a:ea typeface="Times New Roman Bold"/>
                  <a:cs typeface="Times New Roman Bold"/>
                  <a:sym typeface="Times New Roman Bold"/>
                </a:rPr>
                <a:t> </a:t>
              </a:r>
            </a:p>
            <a:p>
              <a:pPr algn="l">
                <a:lnSpc>
                  <a:spcPts val="3600"/>
                </a:lnSpc>
              </a:pPr>
              <a:r>
                <a:rPr lang="en-US" sz="2700" dirty="0">
                  <a:solidFill>
                    <a:srgbClr val="000000"/>
                  </a:solidFill>
                  <a:latin typeface="Times New Roman"/>
                  <a:ea typeface="Times New Roman"/>
                  <a:cs typeface="Times New Roman"/>
                  <a:sym typeface="Times New Roman"/>
                </a:rPr>
                <a:t>Miss. Rasika Rakhewar </a:t>
              </a:r>
            </a:p>
            <a:p>
              <a:pPr algn="l">
                <a:lnSpc>
                  <a:spcPts val="3240"/>
                </a:lnSpc>
              </a:pPr>
              <a:r>
                <a:rPr lang="en-US" sz="2700" dirty="0">
                  <a:solidFill>
                    <a:srgbClr val="000000"/>
                  </a:solidFill>
                  <a:latin typeface="Times New Roman"/>
                  <a:ea typeface="Times New Roman"/>
                  <a:cs typeface="Times New Roman"/>
                  <a:sym typeface="Times New Roman"/>
                </a:rPr>
                <a:t>Miss. Prajakta Waghmare</a:t>
              </a:r>
            </a:p>
            <a:p>
              <a:pPr algn="l">
                <a:lnSpc>
                  <a:spcPts val="3240"/>
                </a:lnSpc>
              </a:pPr>
              <a:r>
                <a:rPr lang="en-US" sz="2700" b="1" dirty="0">
                  <a:solidFill>
                    <a:srgbClr val="000000"/>
                  </a:solidFill>
                  <a:latin typeface="Times New Roman Bold"/>
                  <a:ea typeface="Times New Roman Bold"/>
                  <a:cs typeface="Times New Roman Bold"/>
                  <a:sym typeface="Times New Roman Bold"/>
                </a:rPr>
                <a:t>Class </a:t>
              </a:r>
              <a:r>
                <a:rPr lang="en-US" sz="2700" b="1" dirty="0" err="1">
                  <a:solidFill>
                    <a:srgbClr val="000000"/>
                  </a:solidFill>
                  <a:latin typeface="Times New Roman Bold"/>
                  <a:ea typeface="Times New Roman Bold"/>
                  <a:cs typeface="Times New Roman Bold"/>
                  <a:sym typeface="Times New Roman Bold"/>
                </a:rPr>
                <a:t>B.Tech</a:t>
              </a:r>
              <a:r>
                <a:rPr lang="en-US" sz="2700" b="1" dirty="0">
                  <a:solidFill>
                    <a:srgbClr val="000000"/>
                  </a:solidFill>
                  <a:latin typeface="Times New Roman Bold"/>
                  <a:ea typeface="Times New Roman Bold"/>
                  <a:cs typeface="Times New Roman Bold"/>
                  <a:sym typeface="Times New Roman Bold"/>
                </a:rPr>
                <a:t> CSE - A</a:t>
              </a:r>
            </a:p>
          </p:txBody>
        </p:sp>
      </p:grpSp>
      <p:grpSp>
        <p:nvGrpSpPr>
          <p:cNvPr id="17" name="Group 17"/>
          <p:cNvGrpSpPr/>
          <p:nvPr/>
        </p:nvGrpSpPr>
        <p:grpSpPr>
          <a:xfrm>
            <a:off x="13036491" y="6212446"/>
            <a:ext cx="4456234" cy="1592744"/>
            <a:chOff x="0" y="0"/>
            <a:chExt cx="5941646" cy="2123658"/>
          </a:xfrm>
        </p:grpSpPr>
        <p:sp>
          <p:nvSpPr>
            <p:cNvPr id="18" name="Freeform 18"/>
            <p:cNvSpPr/>
            <p:nvPr/>
          </p:nvSpPr>
          <p:spPr>
            <a:xfrm>
              <a:off x="0" y="0"/>
              <a:ext cx="5941646" cy="2123658"/>
            </a:xfrm>
            <a:custGeom>
              <a:avLst/>
              <a:gdLst/>
              <a:ahLst/>
              <a:cxnLst/>
              <a:rect l="l" t="t" r="r" b="b"/>
              <a:pathLst>
                <a:path w="5941646" h="2123658">
                  <a:moveTo>
                    <a:pt x="0" y="0"/>
                  </a:moveTo>
                  <a:lnTo>
                    <a:pt x="5941646" y="0"/>
                  </a:lnTo>
                  <a:lnTo>
                    <a:pt x="5941646" y="2123658"/>
                  </a:lnTo>
                  <a:lnTo>
                    <a:pt x="0" y="2123658"/>
                  </a:lnTo>
                  <a:close/>
                </a:path>
              </a:pathLst>
            </a:custGeom>
            <a:solidFill>
              <a:srgbClr val="000000">
                <a:alpha val="0"/>
              </a:srgbClr>
            </a:solidFill>
          </p:spPr>
        </p:sp>
        <p:sp>
          <p:nvSpPr>
            <p:cNvPr id="19" name="TextBox 19"/>
            <p:cNvSpPr txBox="1"/>
            <p:nvPr/>
          </p:nvSpPr>
          <p:spPr>
            <a:xfrm>
              <a:off x="0" y="-66675"/>
              <a:ext cx="5941646" cy="2190333"/>
            </a:xfrm>
            <a:prstGeom prst="rect">
              <a:avLst/>
            </a:prstGeom>
          </p:spPr>
          <p:txBody>
            <a:bodyPr lIns="0" tIns="0" rIns="0" bIns="0" rtlCol="0" anchor="t"/>
            <a:lstStyle/>
            <a:p>
              <a:pPr algn="l">
                <a:lnSpc>
                  <a:spcPts val="3779"/>
                </a:lnSpc>
              </a:pPr>
              <a:r>
                <a:rPr lang="en-US" sz="3150" b="1" dirty="0">
                  <a:solidFill>
                    <a:srgbClr val="000000"/>
                  </a:solidFill>
                  <a:latin typeface="Times New Roman Bold"/>
                  <a:ea typeface="Times New Roman Bold"/>
                  <a:cs typeface="Times New Roman Bold"/>
                  <a:sym typeface="Times New Roman Bold"/>
                </a:rPr>
                <a:t>Guided by :</a:t>
              </a:r>
            </a:p>
            <a:p>
              <a:pPr algn="l">
                <a:lnSpc>
                  <a:spcPts val="3779"/>
                </a:lnSpc>
              </a:pPr>
              <a:r>
                <a:rPr lang="en-US" sz="3150" dirty="0">
                  <a:solidFill>
                    <a:srgbClr val="000000"/>
                  </a:solidFill>
                  <a:latin typeface="Times New Roman"/>
                  <a:ea typeface="Times New Roman"/>
                  <a:cs typeface="Times New Roman"/>
                  <a:sym typeface="Times New Roman"/>
                </a:rPr>
                <a:t>Dr. M.  Y. Joshi</a:t>
              </a:r>
            </a:p>
            <a:p>
              <a:pPr algn="l">
                <a:lnSpc>
                  <a:spcPts val="3779"/>
                </a:lnSpc>
              </a:pPr>
              <a:endParaRPr lang="en-US" sz="3150" dirty="0">
                <a:solidFill>
                  <a:srgbClr val="000000"/>
                </a:solidFill>
                <a:latin typeface="Times New Roman"/>
                <a:ea typeface="Times New Roman"/>
                <a:cs typeface="Times New Roman"/>
                <a:sym typeface="Times New Roman"/>
              </a:endParaRPr>
            </a:p>
          </p:txBody>
        </p:sp>
      </p:grpSp>
      <p:sp>
        <p:nvSpPr>
          <p:cNvPr id="20" name="Freeform 20"/>
          <p:cNvSpPr/>
          <p:nvPr/>
        </p:nvSpPr>
        <p:spPr>
          <a:xfrm>
            <a:off x="1346433" y="734673"/>
            <a:ext cx="1879132" cy="1746258"/>
          </a:xfrm>
          <a:custGeom>
            <a:avLst/>
            <a:gdLst/>
            <a:ahLst/>
            <a:cxnLst/>
            <a:rect l="l" t="t" r="r" b="b"/>
            <a:pathLst>
              <a:path w="1879132" h="1746258">
                <a:moveTo>
                  <a:pt x="0" y="0"/>
                </a:moveTo>
                <a:lnTo>
                  <a:pt x="1879132" y="0"/>
                </a:lnTo>
                <a:lnTo>
                  <a:pt x="1879132" y="1746258"/>
                </a:lnTo>
                <a:lnTo>
                  <a:pt x="0" y="1746258"/>
                </a:lnTo>
                <a:lnTo>
                  <a:pt x="0" y="0"/>
                </a:lnTo>
                <a:close/>
              </a:path>
            </a:pathLst>
          </a:custGeom>
          <a:blipFill>
            <a:blip r:embed="rId4"/>
            <a:stretch>
              <a:fillRect t="-1549" b="-1549"/>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3396193" y="2044983"/>
            <a:ext cx="12741423" cy="4897000"/>
            <a:chOff x="0" y="171449"/>
            <a:chExt cx="16988563" cy="6529334"/>
          </a:xfrm>
        </p:grpSpPr>
        <p:sp>
          <p:nvSpPr>
            <p:cNvPr id="3" name="TextBox 3"/>
            <p:cNvSpPr txBox="1"/>
            <p:nvPr/>
          </p:nvSpPr>
          <p:spPr>
            <a:xfrm>
              <a:off x="0" y="2699688"/>
              <a:ext cx="16988563" cy="4001095"/>
            </a:xfrm>
            <a:prstGeom prst="rect">
              <a:avLst/>
            </a:prstGeom>
          </p:spPr>
          <p:txBody>
            <a:bodyPr lIns="0" tIns="0" rIns="0" bIns="0" rtlCol="0" anchor="t">
              <a:spAutoFit/>
            </a:bodyPr>
            <a:lstStyle/>
            <a:p>
              <a:pPr marL="302262" lvl="1" algn="just">
                <a:lnSpc>
                  <a:spcPts val="3920"/>
                </a:lnSpc>
                <a:spcBef>
                  <a:spcPct val="0"/>
                </a:spcBef>
              </a:pPr>
              <a:r>
                <a:rPr lang="en-US" sz="3500" dirty="0"/>
                <a:t>Skin conditions are among the most common health concerns worldwide, yet access to timely and affordable dermatological care remains limited. </a:t>
              </a:r>
              <a:r>
                <a:rPr lang="en-US" sz="3500" dirty="0" err="1"/>
                <a:t>BloomSkin</a:t>
              </a:r>
              <a:r>
                <a:rPr lang="en-US" sz="3500" dirty="0"/>
                <a:t> is designed to bridge this gap by using AI to instantly analyze skin conditions from a simple smartphone photo and deliver personalized care recommendations—making skincare smarter, faster, and accessible to all.</a:t>
              </a:r>
              <a:endParaRPr lang="en-US" sz="3500" spc="-56" dirty="0">
                <a:solidFill>
                  <a:srgbClr val="000000"/>
                </a:solidFill>
                <a:latin typeface="Open Sans Bold"/>
                <a:ea typeface="Open Sans Bold"/>
                <a:cs typeface="Open Sans Bold"/>
                <a:sym typeface="Open Sans Bold"/>
              </a:endParaRPr>
            </a:p>
          </p:txBody>
        </p:sp>
        <p:sp>
          <p:nvSpPr>
            <p:cNvPr id="4" name="TextBox 4"/>
            <p:cNvSpPr txBox="1"/>
            <p:nvPr/>
          </p:nvSpPr>
          <p:spPr>
            <a:xfrm>
              <a:off x="0" y="171449"/>
              <a:ext cx="16988563" cy="1573080"/>
            </a:xfrm>
            <a:prstGeom prst="rect">
              <a:avLst/>
            </a:prstGeom>
          </p:spPr>
          <p:txBody>
            <a:bodyPr lIns="0" tIns="0" rIns="0" bIns="0" rtlCol="0" anchor="t">
              <a:spAutoFit/>
            </a:bodyPr>
            <a:lstStyle/>
            <a:p>
              <a:pPr marL="0" lvl="0" indent="0" algn="l">
                <a:lnSpc>
                  <a:spcPts val="9200"/>
                </a:lnSpc>
              </a:pPr>
              <a:r>
                <a:rPr lang="en-US" sz="9200" dirty="0">
                  <a:solidFill>
                    <a:srgbClr val="000000"/>
                  </a:solidFill>
                  <a:latin typeface="IBM Plex Serif" panose="02060503050406000203" pitchFamily="18" charset="0"/>
                  <a:ea typeface="Open Sans Bold"/>
                  <a:cs typeface="Open Sans Bold"/>
                  <a:sym typeface="Open Sans Bold"/>
                </a:rPr>
                <a:t>Introduction</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385479" y="847725"/>
            <a:ext cx="11024058" cy="1609091"/>
          </a:xfrm>
          <a:prstGeom prst="rect">
            <a:avLst/>
          </a:prstGeom>
        </p:spPr>
        <p:txBody>
          <a:bodyPr lIns="0" tIns="0" rIns="0" bIns="0" rtlCol="0" anchor="t">
            <a:spAutoFit/>
          </a:bodyPr>
          <a:lstStyle/>
          <a:p>
            <a:pPr algn="l">
              <a:lnSpc>
                <a:spcPts val="13159"/>
              </a:lnSpc>
            </a:pPr>
            <a:r>
              <a:rPr lang="en-US" sz="9399" spc="-375" dirty="0">
                <a:solidFill>
                  <a:srgbClr val="36211B"/>
                </a:solidFill>
                <a:latin typeface="IBM Plex Serif"/>
                <a:ea typeface="IBM Plex Serif"/>
                <a:cs typeface="IBM Plex Serif"/>
                <a:sym typeface="IBM Plex Serif"/>
              </a:rPr>
              <a:t>Technology Stack</a:t>
            </a:r>
          </a:p>
        </p:txBody>
      </p:sp>
      <p:sp>
        <p:nvSpPr>
          <p:cNvPr id="4" name="TextBox 4"/>
          <p:cNvSpPr txBox="1"/>
          <p:nvPr/>
        </p:nvSpPr>
        <p:spPr>
          <a:xfrm>
            <a:off x="2687555" y="2866390"/>
            <a:ext cx="13848874" cy="6895606"/>
          </a:xfrm>
          <a:prstGeom prst="rect">
            <a:avLst/>
          </a:prstGeom>
        </p:spPr>
        <p:txBody>
          <a:bodyPr lIns="0" tIns="0" rIns="0" bIns="0" rtlCol="0" anchor="t">
            <a:spAutoFit/>
          </a:bodyPr>
          <a:lstStyle/>
          <a:p>
            <a:pPr marL="561339" lvl="1" indent="-280669" algn="l">
              <a:lnSpc>
                <a:spcPts val="3639"/>
              </a:lnSpc>
              <a:buFont typeface="Arial"/>
              <a:buChar char="•"/>
            </a:pPr>
            <a:r>
              <a:rPr lang="en-US" sz="2599" dirty="0">
                <a:solidFill>
                  <a:srgbClr val="36211B"/>
                </a:solidFill>
                <a:latin typeface="Canva Sans Bold"/>
                <a:ea typeface="Canva Sans Bold"/>
                <a:cs typeface="Canva Sans Bold"/>
                <a:sym typeface="Canva Sans Bold"/>
              </a:rPr>
              <a:t>Frontend:</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React.js: For building a dynamic and component-based user interface.</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HTML5 &amp; CSS3: For structure and modern styling.</a:t>
            </a:r>
          </a:p>
          <a:p>
            <a:pPr marL="561339" lvl="1" indent="-280669" algn="l">
              <a:lnSpc>
                <a:spcPts val="3639"/>
              </a:lnSpc>
              <a:buFont typeface="Arial"/>
              <a:buChar char="•"/>
            </a:pPr>
            <a:r>
              <a:rPr lang="en-US" sz="2599" dirty="0">
                <a:solidFill>
                  <a:srgbClr val="36211B"/>
                </a:solidFill>
                <a:latin typeface="Canva Sans Bold"/>
                <a:ea typeface="Canva Sans Bold"/>
                <a:cs typeface="Canva Sans Bold"/>
                <a:sym typeface="Canva Sans Bold"/>
              </a:rPr>
              <a:t>Backend:</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Node.js: For the JavaScript runtime environment.</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Express.js: As the web application framework for creating robust APIs.</a:t>
            </a:r>
          </a:p>
          <a:p>
            <a:pPr marL="561339" lvl="1" indent="-280669" algn="l">
              <a:lnSpc>
                <a:spcPts val="3639"/>
              </a:lnSpc>
              <a:buFont typeface="Arial"/>
              <a:buChar char="•"/>
            </a:pPr>
            <a:r>
              <a:rPr lang="en-US" sz="2599" dirty="0">
                <a:solidFill>
                  <a:srgbClr val="36211B"/>
                </a:solidFill>
                <a:latin typeface="Canva Sans Bold"/>
                <a:ea typeface="Canva Sans Bold"/>
                <a:cs typeface="Canva Sans Bold"/>
                <a:sym typeface="Canva Sans Bold"/>
              </a:rPr>
              <a:t>Database:</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MongoDB: A NoSQL database for flexible and scalable data storage.</a:t>
            </a:r>
          </a:p>
          <a:p>
            <a:pPr marL="561339" lvl="1" indent="-280669" algn="l">
              <a:lnSpc>
                <a:spcPts val="3639"/>
              </a:lnSpc>
              <a:buFont typeface="Arial"/>
              <a:buChar char="•"/>
            </a:pPr>
            <a:r>
              <a:rPr lang="en-US" sz="2599" dirty="0">
                <a:solidFill>
                  <a:srgbClr val="36211B"/>
                </a:solidFill>
                <a:latin typeface="Canva Sans Bold"/>
                <a:ea typeface="Canva Sans Bold"/>
                <a:cs typeface="Canva Sans Bold"/>
                <a:sym typeface="Canva Sans Bold"/>
              </a:rPr>
              <a:t>AI / Machine Learning:</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Python: The primary language for ML.</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TensorFlow &amp; </a:t>
            </a:r>
            <a:r>
              <a:rPr lang="en-US" sz="2599" dirty="0" err="1">
                <a:solidFill>
                  <a:srgbClr val="36211B"/>
                </a:solidFill>
                <a:latin typeface="Canva Sans Bold"/>
                <a:ea typeface="Canva Sans Bold"/>
                <a:cs typeface="Canva Sans Bold"/>
                <a:sym typeface="Canva Sans Bold"/>
              </a:rPr>
              <a:t>Keras</a:t>
            </a:r>
            <a:r>
              <a:rPr lang="en-US" sz="2599" dirty="0">
                <a:solidFill>
                  <a:srgbClr val="36211B"/>
                </a:solidFill>
                <a:latin typeface="Canva Sans Bold"/>
                <a:ea typeface="Canva Sans Bold"/>
                <a:cs typeface="Canva Sans Bold"/>
                <a:sym typeface="Canva Sans Bold"/>
              </a:rPr>
              <a:t>: For building and running the deep learning model.</a:t>
            </a:r>
          </a:p>
          <a:p>
            <a:pPr marL="1122678" lvl="2" indent="-374226" algn="l">
              <a:lnSpc>
                <a:spcPts val="3639"/>
              </a:lnSpc>
              <a:buFont typeface="Arial"/>
              <a:buChar char="⚬"/>
            </a:pPr>
            <a:r>
              <a:rPr lang="en-US" sz="2599" dirty="0">
                <a:solidFill>
                  <a:srgbClr val="36211B"/>
                </a:solidFill>
                <a:latin typeface="Canva Sans Bold"/>
                <a:ea typeface="Canva Sans Bold"/>
                <a:cs typeface="Canva Sans Bold"/>
                <a:sym typeface="Canva Sans Bold"/>
              </a:rPr>
              <a:t>MobileNetV2: The pre-trained model architecture used for image classification.</a:t>
            </a:r>
          </a:p>
          <a:p>
            <a:pPr algn="l">
              <a:lnSpc>
                <a:spcPts val="3639"/>
              </a:lnSpc>
            </a:pPr>
            <a:endParaRPr lang="en-US" sz="2599" dirty="0">
              <a:solidFill>
                <a:srgbClr val="36211B"/>
              </a:solidFill>
              <a:latin typeface="Canva Sans Bold"/>
              <a:ea typeface="Canva Sans Bold"/>
              <a:cs typeface="Canva Sans Bold"/>
              <a:sym typeface="Canva Sans Bold"/>
            </a:endParaRPr>
          </a:p>
          <a:p>
            <a:pPr algn="l">
              <a:lnSpc>
                <a:spcPts val="3639"/>
              </a:lnSpc>
            </a:pPr>
            <a:endParaRPr lang="en-US" sz="2599" dirty="0">
              <a:solidFill>
                <a:srgbClr val="36211B"/>
              </a:solidFill>
              <a:latin typeface="Canva Sans Bold"/>
              <a:ea typeface="Canva Sans Bold"/>
              <a:cs typeface="Canva Sans Bold"/>
              <a:sym typeface="Canva Sa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p:cNvSpPr txBox="1"/>
          <p:nvPr/>
        </p:nvSpPr>
        <p:spPr>
          <a:xfrm>
            <a:off x="15160864" y="8862060"/>
            <a:ext cx="2098436" cy="396240"/>
          </a:xfrm>
          <a:prstGeom prst="rect">
            <a:avLst/>
          </a:prstGeom>
        </p:spPr>
        <p:txBody>
          <a:bodyPr lIns="0" tIns="0" rIns="0" bIns="0" rtlCol="0" anchor="t">
            <a:spAutoFit/>
          </a:bodyPr>
          <a:lstStyle/>
          <a:p>
            <a:pPr algn="r">
              <a:lnSpc>
                <a:spcPts val="3359"/>
              </a:lnSpc>
            </a:pPr>
            <a:r>
              <a:rPr lang="en-US" sz="2400" spc="-48">
                <a:solidFill>
                  <a:srgbClr val="E8E6E3"/>
                </a:solidFill>
                <a:latin typeface="Canva Sans"/>
                <a:ea typeface="Canva Sans"/>
                <a:cs typeface="Canva Sans"/>
                <a:sym typeface="Canva Sans"/>
              </a:rPr>
              <a:t>4</a:t>
            </a:r>
          </a:p>
        </p:txBody>
      </p:sp>
      <p:sp>
        <p:nvSpPr>
          <p:cNvPr id="5" name="TextBox 5"/>
          <p:cNvSpPr txBox="1"/>
          <p:nvPr/>
        </p:nvSpPr>
        <p:spPr>
          <a:xfrm>
            <a:off x="2816364" y="180876"/>
            <a:ext cx="12655272" cy="1376146"/>
          </a:xfrm>
          <a:prstGeom prst="rect">
            <a:avLst/>
          </a:prstGeom>
        </p:spPr>
        <p:txBody>
          <a:bodyPr wrap="square" lIns="0" tIns="0" rIns="0" bIns="0" rtlCol="0" anchor="t">
            <a:spAutoFit/>
          </a:bodyPr>
          <a:lstStyle/>
          <a:p>
            <a:pPr algn="ctr">
              <a:lnSpc>
                <a:spcPts val="12600"/>
              </a:lnSpc>
            </a:pPr>
            <a:r>
              <a:rPr lang="en-US" sz="5360" dirty="0">
                <a:solidFill>
                  <a:srgbClr val="000000"/>
                </a:solidFill>
                <a:latin typeface="IBM Plex Serif"/>
                <a:ea typeface="IBM Plex Serif"/>
                <a:cs typeface="IBM Plex Serif"/>
                <a:sym typeface="IBM Plex Serif"/>
              </a:rPr>
              <a:t>System Architecture</a:t>
            </a:r>
          </a:p>
        </p:txBody>
      </p:sp>
      <p:pic>
        <p:nvPicPr>
          <p:cNvPr id="11" name="Picture 10">
            <a:extLst>
              <a:ext uri="{FF2B5EF4-FFF2-40B4-BE49-F238E27FC236}">
                <a16:creationId xmlns:a16="http://schemas.microsoft.com/office/drawing/2014/main" id="{90ACB982-58F8-A7C3-DC73-63601F728F96}"/>
              </a:ext>
            </a:extLst>
          </p:cNvPr>
          <p:cNvPicPr>
            <a:picLocks noChangeAspect="1"/>
          </p:cNvPicPr>
          <p:nvPr/>
        </p:nvPicPr>
        <p:blipFill>
          <a:blip r:embed="rId3"/>
          <a:stretch>
            <a:fillRect/>
          </a:stretch>
        </p:blipFill>
        <p:spPr>
          <a:xfrm>
            <a:off x="2171700" y="1538647"/>
            <a:ext cx="13944600" cy="856747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1647825" y="2057400"/>
            <a:ext cx="5201573" cy="5960980"/>
            <a:chOff x="0" y="0"/>
            <a:chExt cx="6935430" cy="7947974"/>
          </a:xfrm>
        </p:grpSpPr>
        <p:sp>
          <p:nvSpPr>
            <p:cNvPr id="3" name="TextBox 3"/>
            <p:cNvSpPr txBox="1"/>
            <p:nvPr/>
          </p:nvSpPr>
          <p:spPr>
            <a:xfrm>
              <a:off x="0" y="0"/>
              <a:ext cx="6935430" cy="1295400"/>
            </a:xfrm>
            <a:prstGeom prst="rect">
              <a:avLst/>
            </a:prstGeom>
          </p:spPr>
          <p:txBody>
            <a:bodyPr lIns="0" tIns="0" rIns="0" bIns="0" rtlCol="0" anchor="t">
              <a:spAutoFit/>
            </a:bodyPr>
            <a:lstStyle/>
            <a:p>
              <a:pPr marL="0" lvl="0" indent="0" algn="l">
                <a:lnSpc>
                  <a:spcPts val="7650"/>
                </a:lnSpc>
              </a:pPr>
              <a:r>
                <a:rPr lang="en-US" sz="6375">
                  <a:solidFill>
                    <a:srgbClr val="000000"/>
                  </a:solidFill>
                  <a:latin typeface="IBM Plex Serif"/>
                  <a:ea typeface="IBM Plex Serif"/>
                  <a:cs typeface="IBM Plex Serif"/>
                  <a:sym typeface="IBM Plex Serif"/>
                </a:rPr>
                <a:t>Methodology</a:t>
              </a:r>
            </a:p>
          </p:txBody>
        </p:sp>
        <p:sp>
          <p:nvSpPr>
            <p:cNvPr id="4" name="TextBox 4"/>
            <p:cNvSpPr txBox="1"/>
            <p:nvPr/>
          </p:nvSpPr>
          <p:spPr>
            <a:xfrm>
              <a:off x="0" y="1839274"/>
              <a:ext cx="6935430" cy="6108700"/>
            </a:xfrm>
            <a:prstGeom prst="rect">
              <a:avLst/>
            </a:prstGeom>
          </p:spPr>
          <p:txBody>
            <a:bodyPr lIns="0" tIns="0" rIns="0" bIns="0" rtlCol="0" anchor="t">
              <a:spAutoFit/>
            </a:bodyPr>
            <a:lstStyle/>
            <a:p>
              <a:pPr marL="0" lvl="0" indent="0" algn="just">
                <a:lnSpc>
                  <a:spcPts val="2836"/>
                </a:lnSpc>
              </a:pPr>
              <a:r>
                <a:rPr lang="en-US" sz="2363" spc="-94">
                  <a:solidFill>
                    <a:srgbClr val="36211B"/>
                  </a:solidFill>
                  <a:latin typeface="IBM Plex Serif"/>
                  <a:ea typeface="IBM Plex Serif"/>
                  <a:cs typeface="IBM Plex Serif"/>
                  <a:sym typeface="IBM Plex Serif"/>
                </a:rPr>
                <a:t>We followed an agile-inspired methodology, breaking the project into manageable phases. The process began with detailed requirement analysis and system design. Development was split into backend API creation, AI model wrapping, and frontend component construction. This iterative approach allowed for continuous integration and testing, ensuring each part worked correctly before being combined. Finally, the application was deployed for review and feedback.</a:t>
              </a:r>
            </a:p>
          </p:txBody>
        </p:sp>
      </p:grpSp>
      <p:grpSp>
        <p:nvGrpSpPr>
          <p:cNvPr id="5" name="Group 5"/>
          <p:cNvGrpSpPr/>
          <p:nvPr/>
        </p:nvGrpSpPr>
        <p:grpSpPr>
          <a:xfrm>
            <a:off x="9343102" y="2057400"/>
            <a:ext cx="7297073" cy="533400"/>
            <a:chOff x="0" y="0"/>
            <a:chExt cx="9729430" cy="711200"/>
          </a:xfrm>
        </p:grpSpPr>
        <p:sp>
          <p:nvSpPr>
            <p:cNvPr id="6" name="TextBox 6"/>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Requirement Analysis</a:t>
              </a:r>
            </a:p>
          </p:txBody>
        </p:sp>
        <p:sp>
          <p:nvSpPr>
            <p:cNvPr id="7" name="TextBox 7"/>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01</a:t>
              </a:r>
            </a:p>
          </p:txBody>
        </p:sp>
      </p:grpSp>
      <p:grpSp>
        <p:nvGrpSpPr>
          <p:cNvPr id="8" name="Group 8"/>
          <p:cNvGrpSpPr/>
          <p:nvPr/>
        </p:nvGrpSpPr>
        <p:grpSpPr>
          <a:xfrm>
            <a:off x="9343102" y="3185160"/>
            <a:ext cx="7297073" cy="533400"/>
            <a:chOff x="0" y="0"/>
            <a:chExt cx="9729430" cy="711200"/>
          </a:xfrm>
        </p:grpSpPr>
        <p:sp>
          <p:nvSpPr>
            <p:cNvPr id="9" name="TextBox 9"/>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System Design &amp; Architecture</a:t>
              </a:r>
            </a:p>
          </p:txBody>
        </p:sp>
        <p:sp>
          <p:nvSpPr>
            <p:cNvPr id="10" name="TextBox 10"/>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02</a:t>
              </a:r>
            </a:p>
          </p:txBody>
        </p:sp>
      </p:grpSp>
      <p:grpSp>
        <p:nvGrpSpPr>
          <p:cNvPr id="11" name="Group 11"/>
          <p:cNvGrpSpPr/>
          <p:nvPr/>
        </p:nvGrpSpPr>
        <p:grpSpPr>
          <a:xfrm>
            <a:off x="9343102" y="4312920"/>
            <a:ext cx="7297073" cy="533400"/>
            <a:chOff x="0" y="0"/>
            <a:chExt cx="9729430" cy="711200"/>
          </a:xfrm>
        </p:grpSpPr>
        <p:sp>
          <p:nvSpPr>
            <p:cNvPr id="12" name="TextBox 12"/>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Agile Development Sprints</a:t>
              </a:r>
            </a:p>
          </p:txBody>
        </p:sp>
        <p:sp>
          <p:nvSpPr>
            <p:cNvPr id="13" name="TextBox 13"/>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03</a:t>
              </a:r>
            </a:p>
          </p:txBody>
        </p:sp>
      </p:grpSp>
      <p:grpSp>
        <p:nvGrpSpPr>
          <p:cNvPr id="14" name="Group 14"/>
          <p:cNvGrpSpPr/>
          <p:nvPr/>
        </p:nvGrpSpPr>
        <p:grpSpPr>
          <a:xfrm>
            <a:off x="9343102" y="5440680"/>
            <a:ext cx="7297073" cy="533400"/>
            <a:chOff x="0" y="0"/>
            <a:chExt cx="9729430" cy="711200"/>
          </a:xfrm>
        </p:grpSpPr>
        <p:sp>
          <p:nvSpPr>
            <p:cNvPr id="15" name="TextBox 15"/>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Model Integration</a:t>
              </a:r>
            </a:p>
          </p:txBody>
        </p:sp>
        <p:sp>
          <p:nvSpPr>
            <p:cNvPr id="16" name="TextBox 16"/>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04</a:t>
              </a:r>
            </a:p>
          </p:txBody>
        </p:sp>
      </p:grpSp>
      <p:grpSp>
        <p:nvGrpSpPr>
          <p:cNvPr id="17" name="Group 17"/>
          <p:cNvGrpSpPr/>
          <p:nvPr/>
        </p:nvGrpSpPr>
        <p:grpSpPr>
          <a:xfrm>
            <a:off x="9343102" y="6568440"/>
            <a:ext cx="7297073" cy="533400"/>
            <a:chOff x="0" y="0"/>
            <a:chExt cx="9729430" cy="711200"/>
          </a:xfrm>
        </p:grpSpPr>
        <p:sp>
          <p:nvSpPr>
            <p:cNvPr id="18" name="TextBox 18"/>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Testing &amp; Debugging</a:t>
              </a:r>
            </a:p>
          </p:txBody>
        </p:sp>
        <p:sp>
          <p:nvSpPr>
            <p:cNvPr id="19" name="TextBox 19"/>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05</a:t>
              </a:r>
            </a:p>
          </p:txBody>
        </p:sp>
      </p:grpSp>
      <p:grpSp>
        <p:nvGrpSpPr>
          <p:cNvPr id="20" name="Group 20"/>
          <p:cNvGrpSpPr/>
          <p:nvPr/>
        </p:nvGrpSpPr>
        <p:grpSpPr>
          <a:xfrm>
            <a:off x="9343102" y="7696200"/>
            <a:ext cx="7297073" cy="533400"/>
            <a:chOff x="0" y="0"/>
            <a:chExt cx="9729430" cy="711200"/>
          </a:xfrm>
        </p:grpSpPr>
        <p:sp>
          <p:nvSpPr>
            <p:cNvPr id="21" name="TextBox 21"/>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Deployment &amp; Review</a:t>
              </a:r>
            </a:p>
          </p:txBody>
        </p:sp>
        <p:sp>
          <p:nvSpPr>
            <p:cNvPr id="22" name="TextBox 22"/>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06</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p:cNvSpPr txBox="1"/>
          <p:nvPr/>
        </p:nvSpPr>
        <p:spPr>
          <a:xfrm>
            <a:off x="7772400" y="723900"/>
            <a:ext cx="3772019" cy="904537"/>
          </a:xfrm>
          <a:prstGeom prst="rect">
            <a:avLst/>
          </a:prstGeom>
        </p:spPr>
        <p:txBody>
          <a:bodyPr lIns="0" tIns="0" rIns="0" bIns="0" rtlCol="0" anchor="t">
            <a:spAutoFit/>
          </a:bodyPr>
          <a:lstStyle/>
          <a:p>
            <a:pPr algn="ctr">
              <a:lnSpc>
                <a:spcPts val="7368"/>
              </a:lnSpc>
              <a:spcBef>
                <a:spcPct val="0"/>
              </a:spcBef>
            </a:pPr>
            <a:r>
              <a:rPr lang="en-US" sz="5263" spc="-210" dirty="0">
                <a:solidFill>
                  <a:srgbClr val="000000"/>
                </a:solidFill>
                <a:latin typeface="IBM Plex Serif"/>
                <a:ea typeface="IBM Plex Serif"/>
                <a:cs typeface="IBM Plex Serif"/>
                <a:sym typeface="IBM Plex Serif"/>
              </a:rPr>
              <a:t>AI Pipeline</a:t>
            </a:r>
          </a:p>
        </p:txBody>
      </p:sp>
      <p:pic>
        <p:nvPicPr>
          <p:cNvPr id="5" name="Picture 4">
            <a:extLst>
              <a:ext uri="{FF2B5EF4-FFF2-40B4-BE49-F238E27FC236}">
                <a16:creationId xmlns:a16="http://schemas.microsoft.com/office/drawing/2014/main" id="{64FA9744-18A1-E072-946B-35672AF39EB0}"/>
              </a:ext>
            </a:extLst>
          </p:cNvPr>
          <p:cNvPicPr>
            <a:picLocks noChangeAspect="1"/>
          </p:cNvPicPr>
          <p:nvPr/>
        </p:nvPicPr>
        <p:blipFill>
          <a:blip r:embed="rId3"/>
          <a:stretch>
            <a:fillRect/>
          </a:stretch>
        </p:blipFill>
        <p:spPr>
          <a:xfrm>
            <a:off x="495354" y="2781300"/>
            <a:ext cx="17297292" cy="5272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a:extLst>
            <a:ext uri="{FF2B5EF4-FFF2-40B4-BE49-F238E27FC236}">
              <a16:creationId xmlns:a16="http://schemas.microsoft.com/office/drawing/2014/main" id="{B3EA65C8-16AF-7697-385D-A92F38A789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DC218D-7C93-8E79-C008-160AED2BDCB6}"/>
              </a:ext>
            </a:extLst>
          </p:cNvPr>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a:extLst>
              <a:ext uri="{FF2B5EF4-FFF2-40B4-BE49-F238E27FC236}">
                <a16:creationId xmlns:a16="http://schemas.microsoft.com/office/drawing/2014/main" id="{67290302-9B12-ED5E-BEEC-3FB853D95DB5}"/>
              </a:ext>
            </a:extLst>
          </p:cNvPr>
          <p:cNvSpPr txBox="1"/>
          <p:nvPr/>
        </p:nvSpPr>
        <p:spPr>
          <a:xfrm>
            <a:off x="1897419" y="349264"/>
            <a:ext cx="14493161" cy="904537"/>
          </a:xfrm>
          <a:prstGeom prst="rect">
            <a:avLst/>
          </a:prstGeom>
        </p:spPr>
        <p:txBody>
          <a:bodyPr wrap="square" lIns="0" tIns="0" rIns="0" bIns="0" rtlCol="0" anchor="t">
            <a:spAutoFit/>
          </a:bodyPr>
          <a:lstStyle/>
          <a:p>
            <a:pPr algn="ctr">
              <a:lnSpc>
                <a:spcPts val="7368"/>
              </a:lnSpc>
              <a:spcBef>
                <a:spcPct val="0"/>
              </a:spcBef>
            </a:pPr>
            <a:r>
              <a:rPr lang="en-US" sz="5263" spc="-210" dirty="0">
                <a:solidFill>
                  <a:srgbClr val="000000"/>
                </a:solidFill>
                <a:latin typeface="IBM Plex Serif"/>
                <a:ea typeface="IBM Plex Serif"/>
                <a:cs typeface="IBM Plex Serif"/>
                <a:sym typeface="IBM Plex Serif"/>
              </a:rPr>
              <a:t>User Flow</a:t>
            </a:r>
          </a:p>
        </p:txBody>
      </p:sp>
      <p:pic>
        <p:nvPicPr>
          <p:cNvPr id="7" name="Picture 6">
            <a:extLst>
              <a:ext uri="{FF2B5EF4-FFF2-40B4-BE49-F238E27FC236}">
                <a16:creationId xmlns:a16="http://schemas.microsoft.com/office/drawing/2014/main" id="{E6FCCCD8-7D97-8A19-2559-4BA2D1F372AF}"/>
              </a:ext>
            </a:extLst>
          </p:cNvPr>
          <p:cNvPicPr>
            <a:picLocks noChangeAspect="1"/>
          </p:cNvPicPr>
          <p:nvPr/>
        </p:nvPicPr>
        <p:blipFill>
          <a:blip r:embed="rId3"/>
          <a:stretch>
            <a:fillRect/>
          </a:stretch>
        </p:blipFill>
        <p:spPr>
          <a:xfrm>
            <a:off x="1897419" y="1300469"/>
            <a:ext cx="14493162" cy="8563640"/>
          </a:xfrm>
          <a:prstGeom prst="rect">
            <a:avLst/>
          </a:prstGeom>
        </p:spPr>
      </p:pic>
    </p:spTree>
    <p:extLst>
      <p:ext uri="{BB962C8B-B14F-4D97-AF65-F5344CB8AC3E}">
        <p14:creationId xmlns:p14="http://schemas.microsoft.com/office/powerpoint/2010/main" val="2562052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1323">
            <a:off x="2156992" y="2761107"/>
            <a:ext cx="14458986"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5026596" y="4119715"/>
            <a:ext cx="8234808" cy="1573852"/>
            <a:chOff x="0" y="0"/>
            <a:chExt cx="10979744" cy="2098470"/>
          </a:xfrm>
        </p:grpSpPr>
        <p:sp>
          <p:nvSpPr>
            <p:cNvPr id="9" name="Freeform 9"/>
            <p:cNvSpPr/>
            <p:nvPr/>
          </p:nvSpPr>
          <p:spPr>
            <a:xfrm>
              <a:off x="0" y="0"/>
              <a:ext cx="10979744" cy="2098470"/>
            </a:xfrm>
            <a:custGeom>
              <a:avLst/>
              <a:gdLst/>
              <a:ahLst/>
              <a:cxnLst/>
              <a:rect l="l" t="t" r="r" b="b"/>
              <a:pathLst>
                <a:path w="10979744" h="2098470">
                  <a:moveTo>
                    <a:pt x="0" y="0"/>
                  </a:moveTo>
                  <a:lnTo>
                    <a:pt x="10979744" y="0"/>
                  </a:lnTo>
                  <a:lnTo>
                    <a:pt x="10979744" y="2098470"/>
                  </a:lnTo>
                  <a:lnTo>
                    <a:pt x="0" y="2098470"/>
                  </a:lnTo>
                  <a:close/>
                </a:path>
              </a:pathLst>
            </a:custGeom>
            <a:solidFill>
              <a:srgbClr val="000000">
                <a:alpha val="0"/>
              </a:srgbClr>
            </a:solidFill>
          </p:spPr>
        </p:sp>
        <p:sp>
          <p:nvSpPr>
            <p:cNvPr id="10" name="TextBox 10"/>
            <p:cNvSpPr txBox="1"/>
            <p:nvPr/>
          </p:nvSpPr>
          <p:spPr>
            <a:xfrm>
              <a:off x="0" y="-76200"/>
              <a:ext cx="10979744" cy="2174670"/>
            </a:xfrm>
            <a:prstGeom prst="rect">
              <a:avLst/>
            </a:prstGeom>
          </p:spPr>
          <p:txBody>
            <a:bodyPr lIns="0" tIns="0" rIns="0" bIns="0" rtlCol="0" anchor="t"/>
            <a:lstStyle/>
            <a:p>
              <a:pPr algn="l">
                <a:lnSpc>
                  <a:spcPts val="10692"/>
                </a:lnSpc>
              </a:pPr>
              <a:r>
                <a:rPr lang="en-US" sz="9900">
                  <a:solidFill>
                    <a:srgbClr val="000000"/>
                  </a:solidFill>
                  <a:latin typeface="Times New Roman"/>
                  <a:ea typeface="Times New Roman"/>
                  <a:cs typeface="Times New Roman"/>
                  <a:sym typeface="Times New Roman"/>
                </a:rPr>
                <a:t>Thank You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318</Words>
  <Application>Microsoft Office PowerPoint</Application>
  <PresentationFormat>Custom</PresentationFormat>
  <Paragraphs>45</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Canva Sans</vt:lpstr>
      <vt:lpstr>Times New Roman</vt:lpstr>
      <vt:lpstr>IBM Plex Serif</vt:lpstr>
      <vt:lpstr>Calibri</vt:lpstr>
      <vt:lpstr>Open Sans Bold</vt:lpstr>
      <vt:lpstr>Arial</vt:lpstr>
      <vt:lpstr>Times New Roman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dc:title>
  <dc:creator>HP</dc:creator>
  <cp:lastModifiedBy>rasika rakhewar</cp:lastModifiedBy>
  <cp:revision>5</cp:revision>
  <dcterms:created xsi:type="dcterms:W3CDTF">2006-08-16T00:00:00Z</dcterms:created>
  <dcterms:modified xsi:type="dcterms:W3CDTF">2026-05-02T04:44:10Z</dcterms:modified>
  <dc:identifier>DAGq8xjpxlw</dc:identifier>
</cp:coreProperties>
</file>