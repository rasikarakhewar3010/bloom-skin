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61" r:id="rId5"/>
    <p:sldId id="262" r:id="rId6"/>
    <p:sldId id="263" r:id="rId7"/>
    <p:sldId id="264" r:id="rId8"/>
    <p:sldId id="277"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8288000" cy="10287000"/>
  <p:notesSz cx="6858000" cy="9144000"/>
  <p:embeddedFontLst>
    <p:embeddedFont>
      <p:font typeface="Canva Sans" panose="020B0604020202020204" charset="0"/>
      <p:regular r:id="rId22"/>
    </p:embeddedFont>
    <p:embeddedFont>
      <p:font typeface="Canva Sans Bold" panose="020B0604020202020204" charset="0"/>
      <p:regular r:id="rId23"/>
    </p:embeddedFont>
    <p:embeddedFont>
      <p:font typeface="IBM Plex Serif" panose="02060503050406000203" pitchFamily="18" charset="0"/>
      <p:regular r:id="rId24"/>
    </p:embeddedFont>
    <p:embeddedFont>
      <p:font typeface="IBM Plex Serif Italics" panose="020B0604020202020204" charset="0"/>
      <p:regular r:id="rId25"/>
    </p:embeddedFont>
    <p:embeddedFont>
      <p:font typeface="Open Sans Bold" panose="020B0604020202020204" charset="0"/>
      <p:regular r:id="rId26"/>
    </p:embeddedFont>
    <p:embeddedFont>
      <p:font typeface="Times New Roman Bold" panose="02020803070505020304" pitchFamily="18" charset="0"/>
      <p:regular r:id="rId27"/>
      <p:bold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2590">
            <a:off x="3602814" y="5283288"/>
            <a:ext cx="13003320"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1940482" y="788637"/>
            <a:ext cx="16849287" cy="1466433"/>
            <a:chOff x="0" y="0"/>
            <a:chExt cx="22465716" cy="1955244"/>
          </a:xfrm>
        </p:grpSpPr>
        <p:sp>
          <p:nvSpPr>
            <p:cNvPr id="9" name="Freeform 9"/>
            <p:cNvSpPr/>
            <p:nvPr/>
          </p:nvSpPr>
          <p:spPr>
            <a:xfrm>
              <a:off x="0" y="0"/>
              <a:ext cx="22465716" cy="1955244"/>
            </a:xfrm>
            <a:custGeom>
              <a:avLst/>
              <a:gdLst/>
              <a:ahLst/>
              <a:cxnLst/>
              <a:rect l="l" t="t" r="r" b="b"/>
              <a:pathLst>
                <a:path w="22465716" h="1955244">
                  <a:moveTo>
                    <a:pt x="0" y="0"/>
                  </a:moveTo>
                  <a:lnTo>
                    <a:pt x="22465716" y="0"/>
                  </a:lnTo>
                  <a:lnTo>
                    <a:pt x="22465716" y="1955244"/>
                  </a:lnTo>
                  <a:lnTo>
                    <a:pt x="0" y="1955244"/>
                  </a:lnTo>
                  <a:close/>
                </a:path>
              </a:pathLst>
            </a:custGeom>
            <a:solidFill>
              <a:srgbClr val="000000">
                <a:alpha val="0"/>
              </a:srgbClr>
            </a:solidFill>
          </p:spPr>
        </p:sp>
        <p:sp>
          <p:nvSpPr>
            <p:cNvPr id="10" name="TextBox 10"/>
            <p:cNvSpPr txBox="1"/>
            <p:nvPr/>
          </p:nvSpPr>
          <p:spPr>
            <a:xfrm>
              <a:off x="0" y="-38100"/>
              <a:ext cx="22465716" cy="1993344"/>
            </a:xfrm>
            <a:prstGeom prst="rect">
              <a:avLst/>
            </a:prstGeom>
          </p:spPr>
          <p:txBody>
            <a:bodyPr lIns="0" tIns="0" rIns="0" bIns="0" rtlCol="0" anchor="b"/>
            <a:lstStyle/>
            <a:p>
              <a:pPr algn="ctr">
                <a:lnSpc>
                  <a:spcPts val="5184"/>
                </a:lnSpc>
              </a:pPr>
              <a:r>
                <a:rPr lang="en-US" sz="4800" b="1">
                  <a:solidFill>
                    <a:srgbClr val="000000"/>
                  </a:solidFill>
                  <a:latin typeface="Times New Roman Bold"/>
                  <a:ea typeface="Times New Roman Bold"/>
                  <a:cs typeface="Times New Roman Bold"/>
                  <a:sym typeface="Times New Roman Bold"/>
                </a:rPr>
                <a:t>MGM’s College of Engineering, Nanded</a:t>
              </a:r>
            </a:p>
            <a:p>
              <a:pPr algn="ctr">
                <a:lnSpc>
                  <a:spcPts val="5184"/>
                </a:lnSpc>
              </a:pPr>
              <a:r>
                <a:rPr lang="en-US" sz="4800" b="1">
                  <a:solidFill>
                    <a:srgbClr val="000000"/>
                  </a:solidFill>
                  <a:latin typeface="Times New Roman Bold"/>
                  <a:ea typeface="Times New Roman Bold"/>
                  <a:cs typeface="Times New Roman Bold"/>
                  <a:sym typeface="Times New Roman Bold"/>
                </a:rPr>
                <a:t>Department of Computer Science and Engineering</a:t>
              </a:r>
            </a:p>
          </p:txBody>
        </p:sp>
      </p:grpSp>
      <p:grpSp>
        <p:nvGrpSpPr>
          <p:cNvPr id="11" name="Group 11"/>
          <p:cNvGrpSpPr/>
          <p:nvPr/>
        </p:nvGrpSpPr>
        <p:grpSpPr>
          <a:xfrm>
            <a:off x="795274" y="3488696"/>
            <a:ext cx="16951726" cy="2093214"/>
            <a:chOff x="0" y="0"/>
            <a:chExt cx="22602302" cy="2790952"/>
          </a:xfrm>
        </p:grpSpPr>
        <p:sp>
          <p:nvSpPr>
            <p:cNvPr id="12" name="Freeform 12"/>
            <p:cNvSpPr/>
            <p:nvPr/>
          </p:nvSpPr>
          <p:spPr>
            <a:xfrm>
              <a:off x="0" y="0"/>
              <a:ext cx="22602303" cy="2790952"/>
            </a:xfrm>
            <a:custGeom>
              <a:avLst/>
              <a:gdLst/>
              <a:ahLst/>
              <a:cxnLst/>
              <a:rect l="l" t="t" r="r" b="b"/>
              <a:pathLst>
                <a:path w="22602303" h="2790952">
                  <a:moveTo>
                    <a:pt x="0" y="0"/>
                  </a:moveTo>
                  <a:lnTo>
                    <a:pt x="22602303" y="0"/>
                  </a:lnTo>
                  <a:lnTo>
                    <a:pt x="22602303" y="2790952"/>
                  </a:lnTo>
                  <a:lnTo>
                    <a:pt x="0" y="2790952"/>
                  </a:lnTo>
                  <a:close/>
                </a:path>
              </a:pathLst>
            </a:custGeom>
            <a:solidFill>
              <a:srgbClr val="000000">
                <a:alpha val="0"/>
              </a:srgbClr>
            </a:solidFill>
          </p:spPr>
        </p:sp>
        <p:sp>
          <p:nvSpPr>
            <p:cNvPr id="13" name="TextBox 13"/>
            <p:cNvSpPr txBox="1"/>
            <p:nvPr/>
          </p:nvSpPr>
          <p:spPr>
            <a:xfrm>
              <a:off x="0" y="-85725"/>
              <a:ext cx="22602302" cy="2876677"/>
            </a:xfrm>
            <a:prstGeom prst="rect">
              <a:avLst/>
            </a:prstGeom>
          </p:spPr>
          <p:txBody>
            <a:bodyPr lIns="0" tIns="0" rIns="0" bIns="0" rtlCol="0" anchor="t"/>
            <a:lstStyle/>
            <a:p>
              <a:pPr algn="ctr">
                <a:lnSpc>
                  <a:spcPts val="5040"/>
                </a:lnSpc>
              </a:pPr>
              <a:r>
                <a:rPr lang="en-US" sz="4200" b="1" dirty="0">
                  <a:solidFill>
                    <a:srgbClr val="000000"/>
                  </a:solidFill>
                  <a:latin typeface="Times New Roman Bold"/>
                  <a:ea typeface="Times New Roman Bold"/>
                  <a:cs typeface="Times New Roman Bold"/>
                  <a:sym typeface="Times New Roman Bold"/>
                </a:rPr>
                <a:t>Project</a:t>
              </a:r>
            </a:p>
            <a:p>
              <a:pPr algn="ctr">
                <a:lnSpc>
                  <a:spcPts val="5040"/>
                </a:lnSpc>
              </a:pPr>
              <a:r>
                <a:rPr lang="en-US" sz="4200" b="1" dirty="0">
                  <a:solidFill>
                    <a:srgbClr val="000000"/>
                  </a:solidFill>
                  <a:latin typeface="Times New Roman Bold"/>
                  <a:ea typeface="Times New Roman Bold"/>
                  <a:cs typeface="Times New Roman Bold"/>
                  <a:sym typeface="Times New Roman Bold"/>
                </a:rPr>
                <a:t>Topic : Bloom Skin</a:t>
              </a:r>
            </a:p>
            <a:p>
              <a:pPr algn="ctr">
                <a:lnSpc>
                  <a:spcPts val="5040"/>
                </a:lnSpc>
              </a:pPr>
              <a:endParaRPr lang="en-US" sz="4200" b="1" dirty="0">
                <a:solidFill>
                  <a:srgbClr val="000000"/>
                </a:solidFill>
                <a:latin typeface="Times New Roman Bold"/>
                <a:ea typeface="Times New Roman Bold"/>
                <a:cs typeface="Times New Roman Bold"/>
                <a:sym typeface="Times New Roman Bold"/>
              </a:endParaRPr>
            </a:p>
          </p:txBody>
        </p:sp>
      </p:grpSp>
      <p:grpSp>
        <p:nvGrpSpPr>
          <p:cNvPr id="14" name="Group 14"/>
          <p:cNvGrpSpPr/>
          <p:nvPr/>
        </p:nvGrpSpPr>
        <p:grpSpPr>
          <a:xfrm>
            <a:off x="795274" y="5958531"/>
            <a:ext cx="7520985" cy="1854803"/>
            <a:chOff x="0" y="0"/>
            <a:chExt cx="10027980" cy="2473071"/>
          </a:xfrm>
        </p:grpSpPr>
        <p:sp>
          <p:nvSpPr>
            <p:cNvPr id="15" name="Freeform 15"/>
            <p:cNvSpPr/>
            <p:nvPr/>
          </p:nvSpPr>
          <p:spPr>
            <a:xfrm>
              <a:off x="0" y="0"/>
              <a:ext cx="10027980" cy="2473071"/>
            </a:xfrm>
            <a:custGeom>
              <a:avLst/>
              <a:gdLst/>
              <a:ahLst/>
              <a:cxnLst/>
              <a:rect l="l" t="t" r="r" b="b"/>
              <a:pathLst>
                <a:path w="10027980" h="2473071">
                  <a:moveTo>
                    <a:pt x="0" y="0"/>
                  </a:moveTo>
                  <a:lnTo>
                    <a:pt x="10027980" y="0"/>
                  </a:lnTo>
                  <a:lnTo>
                    <a:pt x="10027980" y="2473071"/>
                  </a:lnTo>
                  <a:lnTo>
                    <a:pt x="0" y="2473071"/>
                  </a:lnTo>
                  <a:close/>
                </a:path>
              </a:pathLst>
            </a:custGeom>
            <a:solidFill>
              <a:srgbClr val="000000">
                <a:alpha val="0"/>
              </a:srgbClr>
            </a:solidFill>
          </p:spPr>
        </p:sp>
        <p:sp>
          <p:nvSpPr>
            <p:cNvPr id="16" name="TextBox 16"/>
            <p:cNvSpPr txBox="1"/>
            <p:nvPr/>
          </p:nvSpPr>
          <p:spPr>
            <a:xfrm>
              <a:off x="0" y="-66675"/>
              <a:ext cx="10027980" cy="2539746"/>
            </a:xfrm>
            <a:prstGeom prst="rect">
              <a:avLst/>
            </a:prstGeom>
          </p:spPr>
          <p:txBody>
            <a:bodyPr lIns="0" tIns="0" rIns="0" bIns="0" rtlCol="0" anchor="t"/>
            <a:lstStyle/>
            <a:p>
              <a:pPr algn="l">
                <a:lnSpc>
                  <a:spcPts val="3600"/>
                </a:lnSpc>
              </a:pPr>
              <a:r>
                <a:rPr lang="en-US" sz="3000" b="1" dirty="0">
                  <a:solidFill>
                    <a:srgbClr val="000000"/>
                  </a:solidFill>
                  <a:latin typeface="Times New Roman Bold"/>
                  <a:ea typeface="Times New Roman Bold"/>
                  <a:cs typeface="Times New Roman Bold"/>
                  <a:sym typeface="Times New Roman Bold"/>
                </a:rPr>
                <a:t>Presented by:</a:t>
              </a:r>
            </a:p>
            <a:p>
              <a:pPr algn="l">
                <a:lnSpc>
                  <a:spcPts val="3600"/>
                </a:lnSpc>
              </a:pPr>
              <a:r>
                <a:rPr lang="en-US" sz="3000" dirty="0">
                  <a:solidFill>
                    <a:srgbClr val="000000"/>
                  </a:solidFill>
                  <a:latin typeface="Times New Roman"/>
                  <a:ea typeface="Times New Roman"/>
                  <a:cs typeface="Times New Roman"/>
                  <a:sym typeface="Times New Roman"/>
                </a:rPr>
                <a:t>Miss. Talat Siddiqui</a:t>
              </a:r>
              <a:r>
                <a:rPr lang="en-US" sz="3000" b="1" dirty="0">
                  <a:solidFill>
                    <a:srgbClr val="000000"/>
                  </a:solidFill>
                  <a:latin typeface="Times New Roman Bold"/>
                  <a:ea typeface="Times New Roman Bold"/>
                  <a:cs typeface="Times New Roman Bold"/>
                  <a:sym typeface="Times New Roman Bold"/>
                </a:rPr>
                <a:t> </a:t>
              </a:r>
              <a:r>
                <a:rPr lang="en-US" sz="3000" dirty="0">
                  <a:solidFill>
                    <a:srgbClr val="000000"/>
                  </a:solidFill>
                  <a:latin typeface="Times New Roman"/>
                  <a:ea typeface="Times New Roman"/>
                  <a:cs typeface="Times New Roman"/>
                  <a:sym typeface="Times New Roman"/>
                </a:rPr>
                <a:t>(Roll No:101)</a:t>
              </a:r>
            </a:p>
            <a:p>
              <a:pPr algn="l">
                <a:lnSpc>
                  <a:spcPts val="3240"/>
                </a:lnSpc>
              </a:pPr>
              <a:r>
                <a:rPr lang="en-US" sz="2700" dirty="0">
                  <a:solidFill>
                    <a:srgbClr val="000000"/>
                  </a:solidFill>
                  <a:latin typeface="Times New Roman"/>
                  <a:ea typeface="Times New Roman"/>
                  <a:cs typeface="Times New Roman"/>
                  <a:sym typeface="Times New Roman"/>
                </a:rPr>
                <a:t>Miss. Rasika Rakhewar (Roll No:108)</a:t>
              </a:r>
            </a:p>
            <a:p>
              <a:pPr algn="l">
                <a:lnSpc>
                  <a:spcPts val="3240"/>
                </a:lnSpc>
              </a:pPr>
              <a:r>
                <a:rPr lang="en-US" sz="2700" b="1" dirty="0">
                  <a:solidFill>
                    <a:srgbClr val="000000"/>
                  </a:solidFill>
                  <a:latin typeface="Times New Roman Bold"/>
                  <a:ea typeface="Times New Roman Bold"/>
                  <a:cs typeface="Times New Roman Bold"/>
                  <a:sym typeface="Times New Roman Bold"/>
                </a:rPr>
                <a:t>Class </a:t>
              </a:r>
              <a:r>
                <a:rPr lang="en-US" sz="2700" b="1" dirty="0" err="1">
                  <a:solidFill>
                    <a:srgbClr val="000000"/>
                  </a:solidFill>
                  <a:latin typeface="Times New Roman Bold"/>
                  <a:ea typeface="Times New Roman Bold"/>
                  <a:cs typeface="Times New Roman Bold"/>
                  <a:sym typeface="Times New Roman Bold"/>
                </a:rPr>
                <a:t>B.Tech</a:t>
              </a:r>
              <a:r>
                <a:rPr lang="en-US" sz="2700" b="1" dirty="0">
                  <a:solidFill>
                    <a:srgbClr val="000000"/>
                  </a:solidFill>
                  <a:latin typeface="Times New Roman Bold"/>
                  <a:ea typeface="Times New Roman Bold"/>
                  <a:cs typeface="Times New Roman Bold"/>
                  <a:sym typeface="Times New Roman Bold"/>
                </a:rPr>
                <a:t> CSE - A</a:t>
              </a:r>
            </a:p>
          </p:txBody>
        </p:sp>
      </p:grpSp>
      <p:grpSp>
        <p:nvGrpSpPr>
          <p:cNvPr id="17" name="Group 17"/>
          <p:cNvGrpSpPr/>
          <p:nvPr/>
        </p:nvGrpSpPr>
        <p:grpSpPr>
          <a:xfrm>
            <a:off x="13036491" y="6212446"/>
            <a:ext cx="4456234" cy="1592744"/>
            <a:chOff x="0" y="0"/>
            <a:chExt cx="5941646" cy="2123658"/>
          </a:xfrm>
        </p:grpSpPr>
        <p:sp>
          <p:nvSpPr>
            <p:cNvPr id="18" name="Freeform 18"/>
            <p:cNvSpPr/>
            <p:nvPr/>
          </p:nvSpPr>
          <p:spPr>
            <a:xfrm>
              <a:off x="0" y="0"/>
              <a:ext cx="5941646" cy="2123658"/>
            </a:xfrm>
            <a:custGeom>
              <a:avLst/>
              <a:gdLst/>
              <a:ahLst/>
              <a:cxnLst/>
              <a:rect l="l" t="t" r="r" b="b"/>
              <a:pathLst>
                <a:path w="5941646" h="2123658">
                  <a:moveTo>
                    <a:pt x="0" y="0"/>
                  </a:moveTo>
                  <a:lnTo>
                    <a:pt x="5941646" y="0"/>
                  </a:lnTo>
                  <a:lnTo>
                    <a:pt x="5941646" y="2123658"/>
                  </a:lnTo>
                  <a:lnTo>
                    <a:pt x="0" y="2123658"/>
                  </a:lnTo>
                  <a:close/>
                </a:path>
              </a:pathLst>
            </a:custGeom>
            <a:solidFill>
              <a:srgbClr val="000000">
                <a:alpha val="0"/>
              </a:srgbClr>
            </a:solidFill>
          </p:spPr>
        </p:sp>
        <p:sp>
          <p:nvSpPr>
            <p:cNvPr id="19" name="TextBox 19"/>
            <p:cNvSpPr txBox="1"/>
            <p:nvPr/>
          </p:nvSpPr>
          <p:spPr>
            <a:xfrm>
              <a:off x="0" y="-66675"/>
              <a:ext cx="5941646" cy="2190333"/>
            </a:xfrm>
            <a:prstGeom prst="rect">
              <a:avLst/>
            </a:prstGeom>
          </p:spPr>
          <p:txBody>
            <a:bodyPr lIns="0" tIns="0" rIns="0" bIns="0" rtlCol="0" anchor="t"/>
            <a:lstStyle/>
            <a:p>
              <a:pPr algn="l">
                <a:lnSpc>
                  <a:spcPts val="3779"/>
                </a:lnSpc>
              </a:pPr>
              <a:r>
                <a:rPr lang="en-US" sz="3150" b="1" dirty="0">
                  <a:solidFill>
                    <a:srgbClr val="000000"/>
                  </a:solidFill>
                  <a:latin typeface="Times New Roman Bold"/>
                  <a:ea typeface="Times New Roman Bold"/>
                  <a:cs typeface="Times New Roman Bold"/>
                  <a:sym typeface="Times New Roman Bold"/>
                </a:rPr>
                <a:t>Guided by :</a:t>
              </a:r>
            </a:p>
            <a:p>
              <a:pPr algn="l">
                <a:lnSpc>
                  <a:spcPts val="3779"/>
                </a:lnSpc>
              </a:pPr>
              <a:r>
                <a:rPr lang="en-US" sz="3150" dirty="0">
                  <a:solidFill>
                    <a:srgbClr val="000000"/>
                  </a:solidFill>
                  <a:latin typeface="Times New Roman"/>
                  <a:ea typeface="Times New Roman"/>
                  <a:cs typeface="Times New Roman"/>
                  <a:sym typeface="Times New Roman"/>
                </a:rPr>
                <a:t>Dr. M.  Y. Joshi</a:t>
              </a:r>
            </a:p>
            <a:p>
              <a:pPr algn="l">
                <a:lnSpc>
                  <a:spcPts val="3779"/>
                </a:lnSpc>
              </a:pPr>
              <a:endParaRPr lang="en-US" sz="3150" dirty="0">
                <a:solidFill>
                  <a:srgbClr val="000000"/>
                </a:solidFill>
                <a:latin typeface="Times New Roman"/>
                <a:ea typeface="Times New Roman"/>
                <a:cs typeface="Times New Roman"/>
                <a:sym typeface="Times New Roman"/>
              </a:endParaRPr>
            </a:p>
          </p:txBody>
        </p:sp>
      </p:grpSp>
      <p:sp>
        <p:nvSpPr>
          <p:cNvPr id="20" name="Freeform 20"/>
          <p:cNvSpPr/>
          <p:nvPr/>
        </p:nvSpPr>
        <p:spPr>
          <a:xfrm>
            <a:off x="1346433" y="734673"/>
            <a:ext cx="1879132" cy="1746258"/>
          </a:xfrm>
          <a:custGeom>
            <a:avLst/>
            <a:gdLst/>
            <a:ahLst/>
            <a:cxnLst/>
            <a:rect l="l" t="t" r="r" b="b"/>
            <a:pathLst>
              <a:path w="1879132" h="1746258">
                <a:moveTo>
                  <a:pt x="0" y="0"/>
                </a:moveTo>
                <a:lnTo>
                  <a:pt x="1879132" y="0"/>
                </a:lnTo>
                <a:lnTo>
                  <a:pt x="1879132" y="1746258"/>
                </a:lnTo>
                <a:lnTo>
                  <a:pt x="0" y="1746258"/>
                </a:lnTo>
                <a:lnTo>
                  <a:pt x="0" y="0"/>
                </a:lnTo>
                <a:close/>
              </a:path>
            </a:pathLst>
          </a:custGeom>
          <a:blipFill>
            <a:blip r:embed="rId4"/>
            <a:stretch>
              <a:fillRect t="-1549" b="-1549"/>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3396193" y="2134837"/>
            <a:ext cx="6401738" cy="6017327"/>
            <a:chOff x="0" y="0"/>
            <a:chExt cx="8535651" cy="8023103"/>
          </a:xfrm>
        </p:grpSpPr>
        <p:sp>
          <p:nvSpPr>
            <p:cNvPr id="3" name="TextBox 3"/>
            <p:cNvSpPr txBox="1"/>
            <p:nvPr/>
          </p:nvSpPr>
          <p:spPr>
            <a:xfrm>
              <a:off x="0" y="2741596"/>
              <a:ext cx="8535651" cy="5281507"/>
            </a:xfrm>
            <a:prstGeom prst="rect">
              <a:avLst/>
            </a:prstGeom>
          </p:spPr>
          <p:txBody>
            <a:bodyPr lIns="0" tIns="0" rIns="0" bIns="0" rtlCol="0" anchor="t">
              <a:spAutoFit/>
            </a:bodyPr>
            <a:lstStyle/>
            <a:p>
              <a:pPr marL="820419" lvl="1" indent="-410209" algn="l">
                <a:lnSpc>
                  <a:spcPts val="5319"/>
                </a:lnSpc>
                <a:spcBef>
                  <a:spcPct val="0"/>
                </a:spcBef>
                <a:buFont typeface="Arial"/>
                <a:buChar char="•"/>
              </a:pPr>
              <a:r>
                <a:rPr lang="en-US" sz="3799" b="1" spc="-75" dirty="0">
                  <a:solidFill>
                    <a:srgbClr val="36211B"/>
                  </a:solidFill>
                  <a:latin typeface="Canva Sans Bold"/>
                  <a:ea typeface="Canva Sans Bold"/>
                  <a:cs typeface="Canva Sans Bold"/>
                  <a:sym typeface="Canva Sans Bold"/>
                </a:rPr>
                <a:t>Introduction</a:t>
              </a:r>
            </a:p>
            <a:p>
              <a:pPr marL="820419" lvl="1" indent="-410209" algn="l">
                <a:lnSpc>
                  <a:spcPts val="5319"/>
                </a:lnSpc>
                <a:spcBef>
                  <a:spcPct val="0"/>
                </a:spcBef>
                <a:buFont typeface="Arial"/>
                <a:buChar char="•"/>
              </a:pPr>
              <a:r>
                <a:rPr lang="en-US" sz="3799" b="1" spc="-75" dirty="0">
                  <a:solidFill>
                    <a:srgbClr val="36211B"/>
                  </a:solidFill>
                  <a:latin typeface="Canva Sans Bold"/>
                  <a:ea typeface="Canva Sans Bold"/>
                  <a:cs typeface="Canva Sans Bold"/>
                  <a:sym typeface="Canva Sans Bold"/>
                </a:rPr>
                <a:t>Objectives</a:t>
              </a:r>
            </a:p>
            <a:p>
              <a:pPr marL="820419" lvl="1" indent="-410209" algn="l">
                <a:lnSpc>
                  <a:spcPts val="5319"/>
                </a:lnSpc>
                <a:spcBef>
                  <a:spcPct val="0"/>
                </a:spcBef>
                <a:buFont typeface="Arial"/>
                <a:buChar char="•"/>
              </a:pPr>
              <a:r>
                <a:rPr lang="en-US" sz="3799" b="1" spc="-75" dirty="0">
                  <a:solidFill>
                    <a:srgbClr val="36211B"/>
                  </a:solidFill>
                  <a:latin typeface="Canva Sans Bold"/>
                  <a:ea typeface="Canva Sans Bold"/>
                  <a:cs typeface="Canva Sans Bold"/>
                  <a:sym typeface="Canva Sans Bold"/>
                </a:rPr>
                <a:t>Technology Stack</a:t>
              </a:r>
            </a:p>
            <a:p>
              <a:pPr marL="820419" lvl="1" indent="-410209" algn="l">
                <a:lnSpc>
                  <a:spcPts val="5319"/>
                </a:lnSpc>
                <a:spcBef>
                  <a:spcPct val="0"/>
                </a:spcBef>
                <a:buFont typeface="Arial"/>
                <a:buChar char="•"/>
              </a:pPr>
              <a:r>
                <a:rPr lang="en-US" sz="3799" b="1" spc="-75" dirty="0">
                  <a:solidFill>
                    <a:srgbClr val="36211B"/>
                  </a:solidFill>
                  <a:latin typeface="Canva Sans Bold"/>
                  <a:ea typeface="Canva Sans Bold"/>
                  <a:cs typeface="Canva Sans Bold"/>
                  <a:sym typeface="Canva Sans Bold"/>
                </a:rPr>
                <a:t>Literature Survey</a:t>
              </a:r>
            </a:p>
            <a:p>
              <a:pPr marL="820419" lvl="1" indent="-410209" algn="l">
                <a:lnSpc>
                  <a:spcPts val="5319"/>
                </a:lnSpc>
                <a:spcBef>
                  <a:spcPct val="0"/>
                </a:spcBef>
                <a:buFont typeface="Arial"/>
                <a:buChar char="•"/>
              </a:pPr>
              <a:r>
                <a:rPr lang="en-US" sz="3799" b="1" spc="-75" dirty="0">
                  <a:solidFill>
                    <a:srgbClr val="36211B"/>
                  </a:solidFill>
                  <a:latin typeface="Canva Sans Bold"/>
                  <a:ea typeface="Canva Sans Bold"/>
                  <a:cs typeface="Canva Sans Bold"/>
                  <a:sym typeface="Canva Sans Bold"/>
                </a:rPr>
                <a:t>System Architecture</a:t>
              </a:r>
            </a:p>
            <a:p>
              <a:pPr algn="l">
                <a:lnSpc>
                  <a:spcPts val="5319"/>
                </a:lnSpc>
                <a:spcBef>
                  <a:spcPct val="0"/>
                </a:spcBef>
              </a:pPr>
              <a:endParaRPr lang="en-US" sz="3799" b="1" spc="-75" dirty="0">
                <a:solidFill>
                  <a:srgbClr val="36211B"/>
                </a:solidFill>
                <a:latin typeface="Canva Sans Bold"/>
                <a:ea typeface="Canva Sans Bold"/>
                <a:cs typeface="Canva Sans Bold"/>
                <a:sym typeface="Canva Sans Bold"/>
              </a:endParaRPr>
            </a:p>
          </p:txBody>
        </p:sp>
        <p:sp>
          <p:nvSpPr>
            <p:cNvPr id="4" name="TextBox 4"/>
            <p:cNvSpPr txBox="1"/>
            <p:nvPr/>
          </p:nvSpPr>
          <p:spPr>
            <a:xfrm>
              <a:off x="0" y="190500"/>
              <a:ext cx="8535651" cy="1731432"/>
            </a:xfrm>
            <a:prstGeom prst="rect">
              <a:avLst/>
            </a:prstGeom>
          </p:spPr>
          <p:txBody>
            <a:bodyPr lIns="0" tIns="0" rIns="0" bIns="0" rtlCol="0" anchor="t">
              <a:spAutoFit/>
            </a:bodyPr>
            <a:lstStyle/>
            <a:p>
              <a:pPr marL="0" lvl="0" indent="0" algn="l">
                <a:lnSpc>
                  <a:spcPts val="9499"/>
                </a:lnSpc>
              </a:pPr>
              <a:r>
                <a:rPr lang="en-US" sz="9499" i="1" spc="-379">
                  <a:solidFill>
                    <a:srgbClr val="36211B"/>
                  </a:solidFill>
                  <a:latin typeface="IBM Plex Serif Italics"/>
                  <a:ea typeface="IBM Plex Serif Italics"/>
                  <a:cs typeface="IBM Plex Serif Italics"/>
                  <a:sym typeface="IBM Plex Serif Italics"/>
                </a:rPr>
                <a:t>Content</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9531499" y="3998898"/>
            <a:ext cx="6401738" cy="3980180"/>
          </a:xfrm>
          <a:prstGeom prst="rect">
            <a:avLst/>
          </a:prstGeom>
        </p:spPr>
        <p:txBody>
          <a:bodyPr lIns="0" tIns="0" rIns="0" bIns="0" rtlCol="0" anchor="t">
            <a:spAutoFit/>
          </a:bodyPr>
          <a:lstStyle/>
          <a:p>
            <a:pPr marL="820419" lvl="1" indent="-410209" algn="l">
              <a:lnSpc>
                <a:spcPts val="5319"/>
              </a:lnSpc>
              <a:buFont typeface="Arial"/>
              <a:buChar char="•"/>
            </a:pPr>
            <a:r>
              <a:rPr lang="en-US" sz="3799" b="1" spc="-75">
                <a:solidFill>
                  <a:srgbClr val="36211B"/>
                </a:solidFill>
                <a:latin typeface="Canva Sans Bold"/>
                <a:ea typeface="Canva Sans Bold"/>
                <a:cs typeface="Canva Sans Bold"/>
                <a:sym typeface="Canva Sans Bold"/>
              </a:rPr>
              <a:t>Methodology</a:t>
            </a:r>
          </a:p>
          <a:p>
            <a:pPr marL="820419" lvl="1" indent="-410209" algn="l">
              <a:lnSpc>
                <a:spcPts val="5319"/>
              </a:lnSpc>
              <a:buFont typeface="Arial"/>
              <a:buChar char="•"/>
            </a:pPr>
            <a:r>
              <a:rPr lang="en-US" sz="3799" b="1" spc="-75">
                <a:solidFill>
                  <a:srgbClr val="36211B"/>
                </a:solidFill>
                <a:latin typeface="Canva Sans Bold"/>
                <a:ea typeface="Canva Sans Bold"/>
                <a:cs typeface="Canva Sans Bold"/>
                <a:sym typeface="Canva Sans Bold"/>
              </a:rPr>
              <a:t>Imaplementation</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User Flow &amp; Demo</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Future Scope</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Conclusion</a:t>
            </a:r>
          </a:p>
          <a:p>
            <a:pPr marL="820419" lvl="1" indent="-410209" algn="l">
              <a:lnSpc>
                <a:spcPts val="5319"/>
              </a:lnSpc>
              <a:spcBef>
                <a:spcPct val="0"/>
              </a:spcBef>
              <a:buFont typeface="Arial"/>
              <a:buChar char="•"/>
            </a:pPr>
            <a:r>
              <a:rPr lang="en-US" sz="3799" b="1" spc="-75">
                <a:solidFill>
                  <a:srgbClr val="36211B"/>
                </a:solidFill>
                <a:latin typeface="Canva Sans Bold"/>
                <a:ea typeface="Canva Sans Bold"/>
                <a:cs typeface="Canva Sans Bold"/>
                <a:sym typeface="Canva Sans Bold"/>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3396193" y="1916396"/>
            <a:ext cx="12741423" cy="6454208"/>
            <a:chOff x="0" y="0"/>
            <a:chExt cx="16988563" cy="8605611"/>
          </a:xfrm>
        </p:grpSpPr>
        <p:sp>
          <p:nvSpPr>
            <p:cNvPr id="3" name="TextBox 3"/>
            <p:cNvSpPr txBox="1"/>
            <p:nvPr/>
          </p:nvSpPr>
          <p:spPr>
            <a:xfrm>
              <a:off x="0" y="2699688"/>
              <a:ext cx="16988563" cy="5905923"/>
            </a:xfrm>
            <a:prstGeom prst="rect">
              <a:avLst/>
            </a:prstGeom>
          </p:spPr>
          <p:txBody>
            <a:bodyPr lIns="0" tIns="0" rIns="0" bIns="0" rtlCol="0" anchor="t">
              <a:spAutoFit/>
            </a:bodyPr>
            <a:lstStyle/>
            <a:p>
              <a:pPr marL="604524" lvl="1" indent="-302262" algn="l">
                <a:lnSpc>
                  <a:spcPts val="3920"/>
                </a:lnSpc>
                <a:spcBef>
                  <a:spcPct val="0"/>
                </a:spcBef>
                <a:buFont typeface="Arial"/>
                <a:buChar char="•"/>
              </a:pPr>
              <a:r>
                <a:rPr lang="en-US" sz="2800" b="1" spc="-56" dirty="0">
                  <a:solidFill>
                    <a:srgbClr val="000000"/>
                  </a:solidFill>
                  <a:latin typeface="Open Sans Bold"/>
                  <a:ea typeface="Open Sans Bold"/>
                  <a:cs typeface="Open Sans Bold"/>
                  <a:sym typeface="Open Sans Bold"/>
                </a:rPr>
                <a:t>Bloom Skin is an AI-powered skincare analysis web application designed to help users identify common skin conditions like acne, dark spots, and pigmentation from an image.</a:t>
              </a:r>
            </a:p>
            <a:p>
              <a:pPr marL="604524" lvl="1" indent="-302262" algn="l">
                <a:lnSpc>
                  <a:spcPts val="3920"/>
                </a:lnSpc>
                <a:spcBef>
                  <a:spcPct val="0"/>
                </a:spcBef>
                <a:buFont typeface="Arial"/>
                <a:buChar char="•"/>
              </a:pPr>
              <a:r>
                <a:rPr lang="en-US" sz="2800" b="1" spc="-56" dirty="0">
                  <a:solidFill>
                    <a:srgbClr val="000000"/>
                  </a:solidFill>
                  <a:latin typeface="Open Sans Bold"/>
                  <a:ea typeface="Open Sans Bold"/>
                  <a:cs typeface="Open Sans Bold"/>
                  <a:sym typeface="Open Sans Bold"/>
                </a:rPr>
                <a:t>Built using a modern MERN stack (MongoDB, Express.js, React, Node.js) and a Python-based AI model, it offers a seamless and responsive user experience.</a:t>
              </a:r>
            </a:p>
            <a:p>
              <a:pPr marL="604524" lvl="1" indent="-302262" algn="l">
                <a:lnSpc>
                  <a:spcPts val="3920"/>
                </a:lnSpc>
                <a:spcBef>
                  <a:spcPct val="0"/>
                </a:spcBef>
                <a:buFont typeface="Arial"/>
                <a:buChar char="•"/>
              </a:pPr>
              <a:r>
                <a:rPr lang="en-US" sz="2800" b="1" spc="-56" dirty="0">
                  <a:solidFill>
                    <a:srgbClr val="000000"/>
                  </a:solidFill>
                  <a:latin typeface="Open Sans Bold"/>
                  <a:ea typeface="Open Sans Bold"/>
                  <a:cs typeface="Open Sans Bold"/>
                  <a:sym typeface="Open Sans Bold"/>
                </a:rPr>
                <a:t>The project’s goal is to bridge the gap between technology and personal wellness, providing users with a first step in understanding and caring for their skin.</a:t>
              </a:r>
            </a:p>
          </p:txBody>
        </p:sp>
        <p:sp>
          <p:nvSpPr>
            <p:cNvPr id="4" name="TextBox 4"/>
            <p:cNvSpPr txBox="1"/>
            <p:nvPr/>
          </p:nvSpPr>
          <p:spPr>
            <a:xfrm>
              <a:off x="0" y="171450"/>
              <a:ext cx="16988563" cy="1689524"/>
            </a:xfrm>
            <a:prstGeom prst="rect">
              <a:avLst/>
            </a:prstGeom>
          </p:spPr>
          <p:txBody>
            <a:bodyPr lIns="0" tIns="0" rIns="0" bIns="0" rtlCol="0" anchor="t">
              <a:spAutoFit/>
            </a:bodyPr>
            <a:lstStyle/>
            <a:p>
              <a:pPr marL="0" lvl="0" indent="0" algn="l">
                <a:lnSpc>
                  <a:spcPts val="9200"/>
                </a:lnSpc>
              </a:pPr>
              <a:r>
                <a:rPr lang="en-US" sz="9200" b="1">
                  <a:solidFill>
                    <a:srgbClr val="000000"/>
                  </a:solidFill>
                  <a:latin typeface="Open Sans Bold"/>
                  <a:ea typeface="Open Sans Bold"/>
                  <a:cs typeface="Open Sans Bold"/>
                  <a:sym typeface="Open Sans Bold"/>
                </a:rPr>
                <a:t>Introduction</a:t>
              </a:r>
            </a:p>
          </p:txBody>
        </p:sp>
      </p:grpSp>
      <p:sp>
        <p:nvSpPr>
          <p:cNvPr id="5" name="Freeform 5"/>
          <p:cNvSpPr/>
          <p:nvPr/>
        </p:nvSpPr>
        <p:spPr>
          <a:xfrm>
            <a:off x="1266626" y="3777249"/>
            <a:ext cx="1367991" cy="2732501"/>
          </a:xfrm>
          <a:custGeom>
            <a:avLst/>
            <a:gdLst/>
            <a:ahLst/>
            <a:cxnLst/>
            <a:rect l="l" t="t" r="r" b="b"/>
            <a:pathLst>
              <a:path w="1367991" h="2732501">
                <a:moveTo>
                  <a:pt x="0" y="0"/>
                </a:moveTo>
                <a:lnTo>
                  <a:pt x="1367991" y="0"/>
                </a:lnTo>
                <a:lnTo>
                  <a:pt x="1367991" y="2732502"/>
                </a:lnTo>
                <a:lnTo>
                  <a:pt x="0" y="2732502"/>
                </a:lnTo>
                <a:lnTo>
                  <a:pt x="0" y="0"/>
                </a:lnTo>
                <a:close/>
              </a:path>
            </a:pathLst>
          </a:custGeom>
          <a:blipFill>
            <a:blip>
              <a:extLst>
                <a:ext uri="{96DAC541-7B7A-43D3-8B79-37D633B846F1}">
                  <asvg:svgBlip xmlns:asvg="http://schemas.microsoft.com/office/drawing/2016/SVG/main" r:embed="rId2"/>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385479" y="847725"/>
            <a:ext cx="11024058" cy="1609091"/>
          </a:xfrm>
          <a:prstGeom prst="rect">
            <a:avLst/>
          </a:prstGeom>
        </p:spPr>
        <p:txBody>
          <a:bodyPr lIns="0" tIns="0" rIns="0" bIns="0" rtlCol="0" anchor="t">
            <a:spAutoFit/>
          </a:bodyPr>
          <a:lstStyle/>
          <a:p>
            <a:pPr algn="l">
              <a:lnSpc>
                <a:spcPts val="13159"/>
              </a:lnSpc>
            </a:pPr>
            <a:r>
              <a:rPr lang="en-US" sz="9399" spc="-375">
                <a:solidFill>
                  <a:srgbClr val="36211B"/>
                </a:solidFill>
                <a:latin typeface="IBM Plex Serif"/>
                <a:ea typeface="IBM Plex Serif"/>
                <a:cs typeface="IBM Plex Serif"/>
                <a:sym typeface="IBM Plex Serif"/>
              </a:rPr>
              <a:t>Technology Stack</a:t>
            </a:r>
          </a:p>
        </p:txBody>
      </p:sp>
      <p:sp>
        <p:nvSpPr>
          <p:cNvPr id="4" name="TextBox 4"/>
          <p:cNvSpPr txBox="1"/>
          <p:nvPr/>
        </p:nvSpPr>
        <p:spPr>
          <a:xfrm>
            <a:off x="2687555" y="2866390"/>
            <a:ext cx="13848874" cy="6391910"/>
          </a:xfrm>
          <a:prstGeom prst="rect">
            <a:avLst/>
          </a:prstGeom>
        </p:spPr>
        <p:txBody>
          <a:bodyPr lIns="0" tIns="0" rIns="0" bIns="0" rtlCol="0" anchor="t">
            <a:spAutoFit/>
          </a:bodyPr>
          <a:lstStyle/>
          <a:p>
            <a:pPr marL="561339" lvl="1" indent="-280669" algn="l">
              <a:lnSpc>
                <a:spcPts val="3639"/>
              </a:lnSpc>
              <a:buFont typeface="Arial"/>
              <a:buChar char="•"/>
            </a:pPr>
            <a:r>
              <a:rPr lang="en-US" sz="2599" b="1" dirty="0">
                <a:solidFill>
                  <a:srgbClr val="36211B"/>
                </a:solidFill>
                <a:latin typeface="Canva Sans Bold"/>
                <a:ea typeface="Canva Sans Bold"/>
                <a:cs typeface="Canva Sans Bold"/>
                <a:sym typeface="Canva Sans Bold"/>
              </a:rPr>
              <a:t>Frontend:</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React.js: For building a dynamic and component-based user interface.</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HTML5 &amp; CSS3: For structure and modern styling.</a:t>
            </a:r>
          </a:p>
          <a:p>
            <a:pPr marL="561339" lvl="1" indent="-280669" algn="l">
              <a:lnSpc>
                <a:spcPts val="3639"/>
              </a:lnSpc>
              <a:buFont typeface="Arial"/>
              <a:buChar char="•"/>
            </a:pPr>
            <a:r>
              <a:rPr lang="en-US" sz="2599" b="1" dirty="0">
                <a:solidFill>
                  <a:srgbClr val="36211B"/>
                </a:solidFill>
                <a:latin typeface="Canva Sans Bold"/>
                <a:ea typeface="Canva Sans Bold"/>
                <a:cs typeface="Canva Sans Bold"/>
                <a:sym typeface="Canva Sans Bold"/>
              </a:rPr>
              <a:t>Backend:</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Node.js: For the JavaScript runtime environment.</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Express.js: As the web application framework for creating robust APIs.</a:t>
            </a:r>
          </a:p>
          <a:p>
            <a:pPr marL="561339" lvl="1" indent="-280669" algn="l">
              <a:lnSpc>
                <a:spcPts val="3639"/>
              </a:lnSpc>
              <a:buFont typeface="Arial"/>
              <a:buChar char="•"/>
            </a:pPr>
            <a:r>
              <a:rPr lang="en-US" sz="2599" b="1" dirty="0">
                <a:solidFill>
                  <a:srgbClr val="36211B"/>
                </a:solidFill>
                <a:latin typeface="Canva Sans Bold"/>
                <a:ea typeface="Canva Sans Bold"/>
                <a:cs typeface="Canva Sans Bold"/>
                <a:sym typeface="Canva Sans Bold"/>
              </a:rPr>
              <a:t>Database:</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MongoDB: A NoSQL database for flexible and scalable data storage.</a:t>
            </a:r>
          </a:p>
          <a:p>
            <a:pPr marL="561339" lvl="1" indent="-280669" algn="l">
              <a:lnSpc>
                <a:spcPts val="3639"/>
              </a:lnSpc>
              <a:buFont typeface="Arial"/>
              <a:buChar char="•"/>
            </a:pPr>
            <a:r>
              <a:rPr lang="en-US" sz="2599" b="1" dirty="0">
                <a:solidFill>
                  <a:srgbClr val="36211B"/>
                </a:solidFill>
                <a:latin typeface="Canva Sans Bold"/>
                <a:ea typeface="Canva Sans Bold"/>
                <a:cs typeface="Canva Sans Bold"/>
                <a:sym typeface="Canva Sans Bold"/>
              </a:rPr>
              <a:t>AI / Machine Learning:</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Python: The primary language for ML.</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TensorFlow &amp; </a:t>
            </a:r>
            <a:r>
              <a:rPr lang="en-US" sz="2599" b="1" dirty="0" err="1">
                <a:solidFill>
                  <a:srgbClr val="36211B"/>
                </a:solidFill>
                <a:latin typeface="Canva Sans Bold"/>
                <a:ea typeface="Canva Sans Bold"/>
                <a:cs typeface="Canva Sans Bold"/>
                <a:sym typeface="Canva Sans Bold"/>
              </a:rPr>
              <a:t>Keras</a:t>
            </a:r>
            <a:r>
              <a:rPr lang="en-US" sz="2599" b="1" dirty="0">
                <a:solidFill>
                  <a:srgbClr val="36211B"/>
                </a:solidFill>
                <a:latin typeface="Canva Sans Bold"/>
                <a:ea typeface="Canva Sans Bold"/>
                <a:cs typeface="Canva Sans Bold"/>
                <a:sym typeface="Canva Sans Bold"/>
              </a:rPr>
              <a:t>: For building and running the deep learning model.</a:t>
            </a:r>
          </a:p>
          <a:p>
            <a:pPr marL="1122678" lvl="2" indent="-374226" algn="l">
              <a:lnSpc>
                <a:spcPts val="3639"/>
              </a:lnSpc>
              <a:buFont typeface="Arial"/>
              <a:buChar char="⚬"/>
            </a:pPr>
            <a:r>
              <a:rPr lang="en-US" sz="2599" b="1" dirty="0">
                <a:solidFill>
                  <a:srgbClr val="36211B"/>
                </a:solidFill>
                <a:latin typeface="Canva Sans Bold"/>
                <a:ea typeface="Canva Sans Bold"/>
                <a:cs typeface="Canva Sans Bold"/>
                <a:sym typeface="Canva Sans Bold"/>
              </a:rPr>
              <a:t>MobileNetV2: The pre-trained model architecture used for image classification.</a:t>
            </a:r>
          </a:p>
          <a:p>
            <a:pPr algn="l">
              <a:lnSpc>
                <a:spcPts val="3639"/>
              </a:lnSpc>
            </a:pPr>
            <a:endParaRPr lang="en-US" sz="2599" b="1" dirty="0">
              <a:solidFill>
                <a:srgbClr val="36211B"/>
              </a:solidFill>
              <a:latin typeface="Canva Sans Bold"/>
              <a:ea typeface="Canva Sans Bold"/>
              <a:cs typeface="Canva Sans Bold"/>
              <a:sym typeface="Canva Sans Bold"/>
            </a:endParaRPr>
          </a:p>
          <a:p>
            <a:pPr algn="l">
              <a:lnSpc>
                <a:spcPts val="3639"/>
              </a:lnSpc>
            </a:pPr>
            <a:endParaRPr lang="en-US" sz="2599" b="1" dirty="0">
              <a:solidFill>
                <a:srgbClr val="36211B"/>
              </a:solidFill>
              <a:latin typeface="Canva Sans Bold"/>
              <a:ea typeface="Canva Sans Bold"/>
              <a:cs typeface="Canva Sans Bold"/>
              <a:sym typeface="Canva Sans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p:cNvSpPr txBox="1"/>
          <p:nvPr/>
        </p:nvSpPr>
        <p:spPr>
          <a:xfrm>
            <a:off x="15160864" y="8862060"/>
            <a:ext cx="2098436" cy="396240"/>
          </a:xfrm>
          <a:prstGeom prst="rect">
            <a:avLst/>
          </a:prstGeom>
        </p:spPr>
        <p:txBody>
          <a:bodyPr lIns="0" tIns="0" rIns="0" bIns="0" rtlCol="0" anchor="t">
            <a:spAutoFit/>
          </a:bodyPr>
          <a:lstStyle/>
          <a:p>
            <a:pPr algn="r">
              <a:lnSpc>
                <a:spcPts val="3359"/>
              </a:lnSpc>
            </a:pPr>
            <a:r>
              <a:rPr lang="en-US" sz="2400" spc="-48">
                <a:solidFill>
                  <a:srgbClr val="E8E6E3"/>
                </a:solidFill>
                <a:latin typeface="Canva Sans"/>
                <a:ea typeface="Canva Sans"/>
                <a:cs typeface="Canva Sans"/>
                <a:sym typeface="Canva Sans"/>
              </a:rPr>
              <a:t>4</a:t>
            </a:r>
          </a:p>
        </p:txBody>
      </p:sp>
      <p:sp>
        <p:nvSpPr>
          <p:cNvPr id="5" name="TextBox 5"/>
          <p:cNvSpPr txBox="1"/>
          <p:nvPr/>
        </p:nvSpPr>
        <p:spPr>
          <a:xfrm>
            <a:off x="2816364" y="180876"/>
            <a:ext cx="12655272" cy="1376146"/>
          </a:xfrm>
          <a:prstGeom prst="rect">
            <a:avLst/>
          </a:prstGeom>
        </p:spPr>
        <p:txBody>
          <a:bodyPr wrap="square" lIns="0" tIns="0" rIns="0" bIns="0" rtlCol="0" anchor="t">
            <a:spAutoFit/>
          </a:bodyPr>
          <a:lstStyle/>
          <a:p>
            <a:pPr algn="ctr">
              <a:lnSpc>
                <a:spcPts val="12600"/>
              </a:lnSpc>
            </a:pPr>
            <a:r>
              <a:rPr lang="en-US" sz="5360" dirty="0">
                <a:solidFill>
                  <a:srgbClr val="000000"/>
                </a:solidFill>
                <a:latin typeface="IBM Plex Serif"/>
                <a:ea typeface="IBM Plex Serif"/>
                <a:cs typeface="IBM Plex Serif"/>
                <a:sym typeface="IBM Plex Serif"/>
              </a:rPr>
              <a:t>System Architecture</a:t>
            </a:r>
          </a:p>
        </p:txBody>
      </p:sp>
      <p:pic>
        <p:nvPicPr>
          <p:cNvPr id="11" name="Picture 10">
            <a:extLst>
              <a:ext uri="{FF2B5EF4-FFF2-40B4-BE49-F238E27FC236}">
                <a16:creationId xmlns:a16="http://schemas.microsoft.com/office/drawing/2014/main" id="{90ACB982-58F8-A7C3-DC73-63601F728F96}"/>
              </a:ext>
            </a:extLst>
          </p:cNvPr>
          <p:cNvPicPr>
            <a:picLocks noChangeAspect="1"/>
          </p:cNvPicPr>
          <p:nvPr/>
        </p:nvPicPr>
        <p:blipFill>
          <a:blip r:embed="rId3"/>
          <a:stretch>
            <a:fillRect/>
          </a:stretch>
        </p:blipFill>
        <p:spPr>
          <a:xfrm>
            <a:off x="2171700" y="1538647"/>
            <a:ext cx="13944600" cy="85674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grpSp>
        <p:nvGrpSpPr>
          <p:cNvPr id="2" name="Group 2"/>
          <p:cNvGrpSpPr/>
          <p:nvPr/>
        </p:nvGrpSpPr>
        <p:grpSpPr>
          <a:xfrm>
            <a:off x="1647825" y="2057400"/>
            <a:ext cx="5201573" cy="5960980"/>
            <a:chOff x="0" y="0"/>
            <a:chExt cx="6935430" cy="7947974"/>
          </a:xfrm>
        </p:grpSpPr>
        <p:sp>
          <p:nvSpPr>
            <p:cNvPr id="3" name="TextBox 3"/>
            <p:cNvSpPr txBox="1"/>
            <p:nvPr/>
          </p:nvSpPr>
          <p:spPr>
            <a:xfrm>
              <a:off x="0" y="0"/>
              <a:ext cx="6935430" cy="1295400"/>
            </a:xfrm>
            <a:prstGeom prst="rect">
              <a:avLst/>
            </a:prstGeom>
          </p:spPr>
          <p:txBody>
            <a:bodyPr lIns="0" tIns="0" rIns="0" bIns="0" rtlCol="0" anchor="t">
              <a:spAutoFit/>
            </a:bodyPr>
            <a:lstStyle/>
            <a:p>
              <a:pPr marL="0" lvl="0" indent="0" algn="l">
                <a:lnSpc>
                  <a:spcPts val="7650"/>
                </a:lnSpc>
              </a:pPr>
              <a:r>
                <a:rPr lang="en-US" sz="6375">
                  <a:solidFill>
                    <a:srgbClr val="000000"/>
                  </a:solidFill>
                  <a:latin typeface="IBM Plex Serif"/>
                  <a:ea typeface="IBM Plex Serif"/>
                  <a:cs typeface="IBM Plex Serif"/>
                  <a:sym typeface="IBM Plex Serif"/>
                </a:rPr>
                <a:t>Methodology</a:t>
              </a:r>
            </a:p>
          </p:txBody>
        </p:sp>
        <p:sp>
          <p:nvSpPr>
            <p:cNvPr id="4" name="TextBox 4"/>
            <p:cNvSpPr txBox="1"/>
            <p:nvPr/>
          </p:nvSpPr>
          <p:spPr>
            <a:xfrm>
              <a:off x="0" y="1839274"/>
              <a:ext cx="6935430" cy="6108700"/>
            </a:xfrm>
            <a:prstGeom prst="rect">
              <a:avLst/>
            </a:prstGeom>
          </p:spPr>
          <p:txBody>
            <a:bodyPr lIns="0" tIns="0" rIns="0" bIns="0" rtlCol="0" anchor="t">
              <a:spAutoFit/>
            </a:bodyPr>
            <a:lstStyle/>
            <a:p>
              <a:pPr marL="0" lvl="0" indent="0" algn="just">
                <a:lnSpc>
                  <a:spcPts val="2836"/>
                </a:lnSpc>
              </a:pPr>
              <a:r>
                <a:rPr lang="en-US" sz="2363" spc="-94">
                  <a:solidFill>
                    <a:srgbClr val="36211B"/>
                  </a:solidFill>
                  <a:latin typeface="IBM Plex Serif"/>
                  <a:ea typeface="IBM Plex Serif"/>
                  <a:cs typeface="IBM Plex Serif"/>
                  <a:sym typeface="IBM Plex Serif"/>
                </a:rPr>
                <a:t>We followed an agile-inspired methodology, breaking the project into manageable phases. The process began with detailed requirement analysis and system design. Development was split into backend API creation, AI model wrapping, and frontend component construction. This iterative approach allowed for continuous integration and testing, ensuring each part worked correctly before being combined. Finally, the application was deployed for review and feedback.</a:t>
              </a:r>
            </a:p>
          </p:txBody>
        </p:sp>
      </p:grpSp>
      <p:grpSp>
        <p:nvGrpSpPr>
          <p:cNvPr id="5" name="Group 5"/>
          <p:cNvGrpSpPr/>
          <p:nvPr/>
        </p:nvGrpSpPr>
        <p:grpSpPr>
          <a:xfrm>
            <a:off x="9343102" y="2057400"/>
            <a:ext cx="7297073" cy="533400"/>
            <a:chOff x="0" y="0"/>
            <a:chExt cx="9729430" cy="711200"/>
          </a:xfrm>
        </p:grpSpPr>
        <p:sp>
          <p:nvSpPr>
            <p:cNvPr id="6" name="TextBox 6"/>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Requirement Analysis</a:t>
              </a:r>
            </a:p>
          </p:txBody>
        </p:sp>
        <p:sp>
          <p:nvSpPr>
            <p:cNvPr id="7" name="TextBox 7"/>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01</a:t>
              </a:r>
            </a:p>
          </p:txBody>
        </p:sp>
      </p:grpSp>
      <p:grpSp>
        <p:nvGrpSpPr>
          <p:cNvPr id="8" name="Group 8"/>
          <p:cNvGrpSpPr/>
          <p:nvPr/>
        </p:nvGrpSpPr>
        <p:grpSpPr>
          <a:xfrm>
            <a:off x="9343102" y="3185160"/>
            <a:ext cx="7297073" cy="533400"/>
            <a:chOff x="0" y="0"/>
            <a:chExt cx="9729430" cy="711200"/>
          </a:xfrm>
        </p:grpSpPr>
        <p:sp>
          <p:nvSpPr>
            <p:cNvPr id="9" name="TextBox 9"/>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System Design &amp; Architecture</a:t>
              </a:r>
            </a:p>
          </p:txBody>
        </p:sp>
        <p:sp>
          <p:nvSpPr>
            <p:cNvPr id="10" name="TextBox 10"/>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02</a:t>
              </a:r>
            </a:p>
          </p:txBody>
        </p:sp>
      </p:grpSp>
      <p:grpSp>
        <p:nvGrpSpPr>
          <p:cNvPr id="11" name="Group 11"/>
          <p:cNvGrpSpPr/>
          <p:nvPr/>
        </p:nvGrpSpPr>
        <p:grpSpPr>
          <a:xfrm>
            <a:off x="9343102" y="4312920"/>
            <a:ext cx="7297073" cy="533400"/>
            <a:chOff x="0" y="0"/>
            <a:chExt cx="9729430" cy="711200"/>
          </a:xfrm>
        </p:grpSpPr>
        <p:sp>
          <p:nvSpPr>
            <p:cNvPr id="12" name="TextBox 12"/>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Agile Development Sprints</a:t>
              </a:r>
            </a:p>
          </p:txBody>
        </p:sp>
        <p:sp>
          <p:nvSpPr>
            <p:cNvPr id="13" name="TextBox 13"/>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03</a:t>
              </a:r>
            </a:p>
          </p:txBody>
        </p:sp>
      </p:grpSp>
      <p:grpSp>
        <p:nvGrpSpPr>
          <p:cNvPr id="14" name="Group 14"/>
          <p:cNvGrpSpPr/>
          <p:nvPr/>
        </p:nvGrpSpPr>
        <p:grpSpPr>
          <a:xfrm>
            <a:off x="9343102" y="5440680"/>
            <a:ext cx="7297073" cy="533400"/>
            <a:chOff x="0" y="0"/>
            <a:chExt cx="9729430" cy="711200"/>
          </a:xfrm>
        </p:grpSpPr>
        <p:sp>
          <p:nvSpPr>
            <p:cNvPr id="15" name="TextBox 15"/>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Model Integration</a:t>
              </a:r>
            </a:p>
          </p:txBody>
        </p:sp>
        <p:sp>
          <p:nvSpPr>
            <p:cNvPr id="16" name="TextBox 16"/>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04</a:t>
              </a:r>
            </a:p>
          </p:txBody>
        </p:sp>
      </p:grpSp>
      <p:grpSp>
        <p:nvGrpSpPr>
          <p:cNvPr id="17" name="Group 17"/>
          <p:cNvGrpSpPr/>
          <p:nvPr/>
        </p:nvGrpSpPr>
        <p:grpSpPr>
          <a:xfrm>
            <a:off x="9343102" y="6568440"/>
            <a:ext cx="7297073" cy="533400"/>
            <a:chOff x="0" y="0"/>
            <a:chExt cx="9729430" cy="711200"/>
          </a:xfrm>
        </p:grpSpPr>
        <p:sp>
          <p:nvSpPr>
            <p:cNvPr id="18" name="TextBox 18"/>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Testing &amp; Debugging</a:t>
              </a:r>
            </a:p>
          </p:txBody>
        </p:sp>
        <p:sp>
          <p:nvSpPr>
            <p:cNvPr id="19" name="TextBox 19"/>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05</a:t>
              </a:r>
            </a:p>
          </p:txBody>
        </p:sp>
      </p:grpSp>
      <p:grpSp>
        <p:nvGrpSpPr>
          <p:cNvPr id="20" name="Group 20"/>
          <p:cNvGrpSpPr/>
          <p:nvPr/>
        </p:nvGrpSpPr>
        <p:grpSpPr>
          <a:xfrm>
            <a:off x="9343102" y="7696200"/>
            <a:ext cx="7297073" cy="533400"/>
            <a:chOff x="0" y="0"/>
            <a:chExt cx="9729430" cy="711200"/>
          </a:xfrm>
        </p:grpSpPr>
        <p:sp>
          <p:nvSpPr>
            <p:cNvPr id="21" name="TextBox 21"/>
            <p:cNvSpPr txBox="1"/>
            <p:nvPr/>
          </p:nvSpPr>
          <p:spPr>
            <a:xfrm>
              <a:off x="1397000" y="58208"/>
              <a:ext cx="8332430" cy="601738"/>
            </a:xfrm>
            <a:prstGeom prst="rect">
              <a:avLst/>
            </a:prstGeom>
          </p:spPr>
          <p:txBody>
            <a:bodyPr lIns="0" tIns="0" rIns="0" bIns="0" rtlCol="0" anchor="t">
              <a:spAutoFit/>
            </a:bodyPr>
            <a:lstStyle/>
            <a:p>
              <a:pPr marL="0" lvl="0" indent="0" algn="l">
                <a:lnSpc>
                  <a:spcPts val="3868"/>
                </a:lnSpc>
              </a:pPr>
              <a:r>
                <a:rPr lang="en-US" sz="2763" spc="-110">
                  <a:solidFill>
                    <a:srgbClr val="36211B"/>
                  </a:solidFill>
                  <a:latin typeface="IBM Plex Serif"/>
                  <a:ea typeface="IBM Plex Serif"/>
                  <a:cs typeface="IBM Plex Serif"/>
                  <a:sym typeface="IBM Plex Serif"/>
                </a:rPr>
                <a:t>Deployment &amp; Review</a:t>
              </a:r>
            </a:p>
          </p:txBody>
        </p:sp>
        <p:sp>
          <p:nvSpPr>
            <p:cNvPr id="22" name="TextBox 22"/>
            <p:cNvSpPr txBox="1"/>
            <p:nvPr/>
          </p:nvSpPr>
          <p:spPr>
            <a:xfrm>
              <a:off x="0" y="-9525"/>
              <a:ext cx="890230" cy="720725"/>
            </a:xfrm>
            <a:prstGeom prst="rect">
              <a:avLst/>
            </a:prstGeom>
          </p:spPr>
          <p:txBody>
            <a:bodyPr lIns="0" tIns="0" rIns="0" bIns="0" rtlCol="0" anchor="t">
              <a:spAutoFit/>
            </a:bodyPr>
            <a:lstStyle/>
            <a:p>
              <a:pPr algn="l">
                <a:lnSpc>
                  <a:spcPts val="4200"/>
                </a:lnSpc>
              </a:pPr>
              <a:r>
                <a:rPr lang="en-US" sz="3500">
                  <a:solidFill>
                    <a:srgbClr val="36211B"/>
                  </a:solidFill>
                  <a:latin typeface="IBM Plex Serif"/>
                  <a:ea typeface="IBM Plex Serif"/>
                  <a:cs typeface="IBM Plex Serif"/>
                  <a:sym typeface="IBM Plex Serif"/>
                </a:rPr>
                <a:t>06</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p:cNvSpPr txBox="1"/>
          <p:nvPr/>
        </p:nvSpPr>
        <p:spPr>
          <a:xfrm>
            <a:off x="8180902" y="349264"/>
            <a:ext cx="3772019" cy="904537"/>
          </a:xfrm>
          <a:prstGeom prst="rect">
            <a:avLst/>
          </a:prstGeom>
        </p:spPr>
        <p:txBody>
          <a:bodyPr lIns="0" tIns="0" rIns="0" bIns="0" rtlCol="0" anchor="t">
            <a:spAutoFit/>
          </a:bodyPr>
          <a:lstStyle/>
          <a:p>
            <a:pPr algn="ctr">
              <a:lnSpc>
                <a:spcPts val="7368"/>
              </a:lnSpc>
              <a:spcBef>
                <a:spcPct val="0"/>
              </a:spcBef>
            </a:pPr>
            <a:r>
              <a:rPr lang="en-US" sz="5263" spc="-210">
                <a:solidFill>
                  <a:srgbClr val="000000"/>
                </a:solidFill>
                <a:latin typeface="IBM Plex Serif"/>
                <a:ea typeface="IBM Plex Serif"/>
                <a:cs typeface="IBM Plex Serif"/>
                <a:sym typeface="IBM Plex Serif"/>
              </a:rPr>
              <a:t>Methodology</a:t>
            </a:r>
          </a:p>
        </p:txBody>
      </p:sp>
      <p:pic>
        <p:nvPicPr>
          <p:cNvPr id="7" name="Picture 6">
            <a:extLst>
              <a:ext uri="{FF2B5EF4-FFF2-40B4-BE49-F238E27FC236}">
                <a16:creationId xmlns:a16="http://schemas.microsoft.com/office/drawing/2014/main" id="{2CB7839B-F6D1-3E96-F4BD-2905DAC08CAC}"/>
              </a:ext>
            </a:extLst>
          </p:cNvPr>
          <p:cNvPicPr>
            <a:picLocks noChangeAspect="1"/>
          </p:cNvPicPr>
          <p:nvPr/>
        </p:nvPicPr>
        <p:blipFill>
          <a:blip r:embed="rId3"/>
          <a:stretch>
            <a:fillRect/>
          </a:stretch>
        </p:blipFill>
        <p:spPr>
          <a:xfrm>
            <a:off x="870383" y="1861679"/>
            <a:ext cx="16547234" cy="656364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a:extLst>
            <a:ext uri="{FF2B5EF4-FFF2-40B4-BE49-F238E27FC236}">
              <a16:creationId xmlns:a16="http://schemas.microsoft.com/office/drawing/2014/main" id="{B3EA65C8-16AF-7697-385D-A92F38A789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8DC218D-7C93-8E79-C008-160AED2BDCB6}"/>
              </a:ext>
            </a:extLst>
          </p:cNvPr>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4" name="TextBox 4">
            <a:extLst>
              <a:ext uri="{FF2B5EF4-FFF2-40B4-BE49-F238E27FC236}">
                <a16:creationId xmlns:a16="http://schemas.microsoft.com/office/drawing/2014/main" id="{67290302-9B12-ED5E-BEEC-3FB853D95DB5}"/>
              </a:ext>
            </a:extLst>
          </p:cNvPr>
          <p:cNvSpPr txBox="1"/>
          <p:nvPr/>
        </p:nvSpPr>
        <p:spPr>
          <a:xfrm>
            <a:off x="8180902" y="349264"/>
            <a:ext cx="3772019" cy="904537"/>
          </a:xfrm>
          <a:prstGeom prst="rect">
            <a:avLst/>
          </a:prstGeom>
        </p:spPr>
        <p:txBody>
          <a:bodyPr lIns="0" tIns="0" rIns="0" bIns="0" rtlCol="0" anchor="t">
            <a:spAutoFit/>
          </a:bodyPr>
          <a:lstStyle/>
          <a:p>
            <a:pPr algn="ctr">
              <a:lnSpc>
                <a:spcPts val="7368"/>
              </a:lnSpc>
              <a:spcBef>
                <a:spcPct val="0"/>
              </a:spcBef>
            </a:pPr>
            <a:r>
              <a:rPr lang="en-US" sz="5263" spc="-210" dirty="0">
                <a:solidFill>
                  <a:srgbClr val="000000"/>
                </a:solidFill>
                <a:latin typeface="IBM Plex Serif"/>
                <a:ea typeface="IBM Plex Serif"/>
                <a:cs typeface="IBM Plex Serif"/>
                <a:sym typeface="IBM Plex Serif"/>
              </a:rPr>
              <a:t>User Flow</a:t>
            </a:r>
          </a:p>
        </p:txBody>
      </p:sp>
      <p:pic>
        <p:nvPicPr>
          <p:cNvPr id="7" name="Picture 6">
            <a:extLst>
              <a:ext uri="{FF2B5EF4-FFF2-40B4-BE49-F238E27FC236}">
                <a16:creationId xmlns:a16="http://schemas.microsoft.com/office/drawing/2014/main" id="{E6FCCCD8-7D97-8A19-2559-4BA2D1F372AF}"/>
              </a:ext>
            </a:extLst>
          </p:cNvPr>
          <p:cNvPicPr>
            <a:picLocks noChangeAspect="1"/>
          </p:cNvPicPr>
          <p:nvPr/>
        </p:nvPicPr>
        <p:blipFill>
          <a:blip r:embed="rId3"/>
          <a:stretch>
            <a:fillRect/>
          </a:stretch>
        </p:blipFill>
        <p:spPr>
          <a:xfrm>
            <a:off x="1897419" y="1300469"/>
            <a:ext cx="14493162" cy="8563640"/>
          </a:xfrm>
          <a:prstGeom prst="rect">
            <a:avLst/>
          </a:prstGeom>
        </p:spPr>
      </p:pic>
    </p:spTree>
    <p:extLst>
      <p:ext uri="{BB962C8B-B14F-4D97-AF65-F5344CB8AC3E}">
        <p14:creationId xmlns:p14="http://schemas.microsoft.com/office/powerpoint/2010/main" val="2562052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just">
              <a:lnSpc>
                <a:spcPts val="9939"/>
              </a:lnSpc>
            </a:pPr>
            <a:r>
              <a:rPr lang="en-US" sz="7099" spc="-283">
                <a:solidFill>
                  <a:srgbClr val="36211B"/>
                </a:solidFill>
                <a:latin typeface="IBM Plex Serif"/>
                <a:ea typeface="IBM Plex Serif"/>
                <a:cs typeface="IBM Plex Serif"/>
                <a:sym typeface="IBM Plex Serif"/>
              </a:rPr>
              <a:t>Implementation: Backend Foundation</a:t>
            </a:r>
          </a:p>
        </p:txBody>
      </p:sp>
      <p:sp>
        <p:nvSpPr>
          <p:cNvPr id="4" name="TextBox 4"/>
          <p:cNvSpPr txBox="1"/>
          <p:nvPr/>
        </p:nvSpPr>
        <p:spPr>
          <a:xfrm>
            <a:off x="1658855" y="3659505"/>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Environment Setup: Initialized a Node.js project and configured the Express.js server.</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Endpoints: Created RESTful API routes for user authentication (Register/Login), image upload, and fetching analysis history.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Database Schema: Designed a flexible schema in MongoDB using Mongoose to store user information and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Security: Implemented basic security measures, including environment variables for sensitive keys and data validation.</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ctr">
              <a:lnSpc>
                <a:spcPts val="9939"/>
              </a:lnSpc>
            </a:pPr>
            <a:r>
              <a:rPr lang="en-US" sz="7099" spc="-283">
                <a:solidFill>
                  <a:srgbClr val="36211B"/>
                </a:solidFill>
                <a:latin typeface="IBM Plex Serif"/>
                <a:ea typeface="IBM Plex Serif"/>
                <a:cs typeface="IBM Plex Serif"/>
                <a:sym typeface="IBM Plex Serif"/>
              </a:rPr>
              <a:t>Implementation: The AI Core</a:t>
            </a:r>
          </a:p>
        </p:txBody>
      </p:sp>
      <p:sp>
        <p:nvSpPr>
          <p:cNvPr id="4" name="TextBox 4"/>
          <p:cNvSpPr txBox="1"/>
          <p:nvPr/>
        </p:nvSpPr>
        <p:spPr>
          <a:xfrm>
            <a:off x="1475258" y="4044950"/>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Model Selection: Chose the pre-trained MobileNetV2 model for its balance of high accuracy and low computational cost.</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Fine-Tuning (Optional): The model was potentially fine-tuned on a custom dataset of skin conditions to improve its specificity.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Wrapping: Developed a lightweight Python service (using Flask or FastAPI) to "wrap" the TensorFlow/Keras model. This service exposes a simple API endpoint that accepts an image and returns a JSON object with the prediction.</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717100"/>
            <a:ext cx="16040257" cy="1219836"/>
          </a:xfrm>
          <a:prstGeom prst="rect">
            <a:avLst/>
          </a:prstGeom>
        </p:spPr>
        <p:txBody>
          <a:bodyPr lIns="0" tIns="0" rIns="0" bIns="0" rtlCol="0" anchor="t">
            <a:spAutoFit/>
          </a:bodyPr>
          <a:lstStyle/>
          <a:p>
            <a:pPr algn="ctr">
              <a:lnSpc>
                <a:spcPts val="9939"/>
              </a:lnSpc>
            </a:pPr>
            <a:r>
              <a:rPr lang="en-US" sz="7099" spc="-283">
                <a:solidFill>
                  <a:srgbClr val="36211B"/>
                </a:solidFill>
                <a:latin typeface="IBM Plex Serif"/>
                <a:ea typeface="IBM Plex Serif"/>
                <a:cs typeface="IBM Plex Serif"/>
                <a:sym typeface="IBM Plex Serif"/>
              </a:rPr>
              <a:t>Implementation: The User Interface</a:t>
            </a:r>
          </a:p>
        </p:txBody>
      </p:sp>
      <p:sp>
        <p:nvSpPr>
          <p:cNvPr id="4" name="TextBox 4"/>
          <p:cNvSpPr txBox="1"/>
          <p:nvPr/>
        </p:nvSpPr>
        <p:spPr>
          <a:xfrm>
            <a:off x="1475258" y="3502025"/>
            <a:ext cx="15147141" cy="5398135"/>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Component Structure: Built the UI with reusable React components for the navigation bar, file upload module, results display card, and user dashboard.</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State Management: Used React Hooks (like useState and useEffect) to manage component state and handle asynchronous API calls.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API Connection: Integrated the axios library to communicate with our backend, sending the uploaded image and receiving the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Responsive Design: Used CSS Flexbox/Grid and media queries to ensure the application works flawlessly on desktops, tablets, and mobile devices.</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TextBox 2"/>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3" name="TextBox 3"/>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Home Page</a:t>
            </a:r>
          </a:p>
        </p:txBody>
      </p:sp>
      <p:sp>
        <p:nvSpPr>
          <p:cNvPr id="4" name="AutoShape 4"/>
          <p:cNvSpPr/>
          <p:nvPr/>
        </p:nvSpPr>
        <p:spPr>
          <a:xfrm>
            <a:off x="1028700" y="1515576"/>
            <a:ext cx="16230600" cy="64082"/>
          </a:xfrm>
          <a:prstGeom prst="rect">
            <a:avLst/>
          </a:prstGeom>
          <a:solidFill>
            <a:srgbClr val="FFFFFF"/>
          </a:solidFill>
        </p:spPr>
      </p:sp>
      <p:sp>
        <p:nvSpPr>
          <p:cNvPr id="5" name="Freeform 5"/>
          <p:cNvSpPr/>
          <p:nvPr/>
        </p:nvSpPr>
        <p:spPr>
          <a:xfrm>
            <a:off x="2961463" y="3285935"/>
            <a:ext cx="12377958" cy="5972365"/>
          </a:xfrm>
          <a:custGeom>
            <a:avLst/>
            <a:gdLst/>
            <a:ahLst/>
            <a:cxnLst/>
            <a:rect l="l" t="t" r="r" b="b"/>
            <a:pathLst>
              <a:path w="12377958" h="5972365">
                <a:moveTo>
                  <a:pt x="0" y="0"/>
                </a:moveTo>
                <a:lnTo>
                  <a:pt x="12377958" y="0"/>
                </a:lnTo>
                <a:lnTo>
                  <a:pt x="12377958" y="5972365"/>
                </a:lnTo>
                <a:lnTo>
                  <a:pt x="0" y="5972365"/>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2894790" y="3616977"/>
            <a:ext cx="12168508" cy="5749620"/>
          </a:xfrm>
          <a:custGeom>
            <a:avLst/>
            <a:gdLst/>
            <a:ahLst/>
            <a:cxnLst/>
            <a:rect l="l" t="t" r="r" b="b"/>
            <a:pathLst>
              <a:path w="12168508" h="5749620">
                <a:moveTo>
                  <a:pt x="0" y="0"/>
                </a:moveTo>
                <a:lnTo>
                  <a:pt x="12168508" y="0"/>
                </a:lnTo>
                <a:lnTo>
                  <a:pt x="12168508" y="5749620"/>
                </a:lnTo>
                <a:lnTo>
                  <a:pt x="0" y="5749620"/>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AI Chat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493371" y="3223131"/>
            <a:ext cx="11301259" cy="5353971"/>
          </a:xfrm>
          <a:custGeom>
            <a:avLst/>
            <a:gdLst/>
            <a:ahLst/>
            <a:cxnLst/>
            <a:rect l="l" t="t" r="r" b="b"/>
            <a:pathLst>
              <a:path w="11301259" h="5353971">
                <a:moveTo>
                  <a:pt x="0" y="0"/>
                </a:moveTo>
                <a:lnTo>
                  <a:pt x="11301258" y="0"/>
                </a:lnTo>
                <a:lnTo>
                  <a:pt x="11301258" y="5353971"/>
                </a:lnTo>
                <a:lnTo>
                  <a:pt x="0" y="5353971"/>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Login Page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762039" y="4183560"/>
            <a:ext cx="11301259" cy="5537617"/>
          </a:xfrm>
          <a:custGeom>
            <a:avLst/>
            <a:gdLst/>
            <a:ahLst/>
            <a:cxnLst/>
            <a:rect l="l" t="t" r="r" b="b"/>
            <a:pathLst>
              <a:path w="11301259" h="5537617">
                <a:moveTo>
                  <a:pt x="0" y="0"/>
                </a:moveTo>
                <a:lnTo>
                  <a:pt x="11301259" y="0"/>
                </a:lnTo>
                <a:lnTo>
                  <a:pt x="11301259" y="5537617"/>
                </a:lnTo>
                <a:lnTo>
                  <a:pt x="0" y="5537617"/>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Contact Us Page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AutoShape 2"/>
          <p:cNvSpPr/>
          <p:nvPr/>
        </p:nvSpPr>
        <p:spPr>
          <a:xfrm>
            <a:off x="1028700" y="1515576"/>
            <a:ext cx="16230600" cy="64082"/>
          </a:xfrm>
          <a:prstGeom prst="rect">
            <a:avLst/>
          </a:prstGeom>
          <a:solidFill>
            <a:srgbClr val="FFFFFF"/>
          </a:solidFill>
        </p:spPr>
      </p:sp>
      <p:sp>
        <p:nvSpPr>
          <p:cNvPr id="3" name="Freeform 3"/>
          <p:cNvSpPr/>
          <p:nvPr/>
        </p:nvSpPr>
        <p:spPr>
          <a:xfrm>
            <a:off x="3762039" y="3570115"/>
            <a:ext cx="11301259" cy="5424604"/>
          </a:xfrm>
          <a:custGeom>
            <a:avLst/>
            <a:gdLst/>
            <a:ahLst/>
            <a:cxnLst/>
            <a:rect l="l" t="t" r="r" b="b"/>
            <a:pathLst>
              <a:path w="11301259" h="5424604">
                <a:moveTo>
                  <a:pt x="0" y="0"/>
                </a:moveTo>
                <a:lnTo>
                  <a:pt x="11301259" y="0"/>
                </a:lnTo>
                <a:lnTo>
                  <a:pt x="11301259" y="5424605"/>
                </a:lnTo>
                <a:lnTo>
                  <a:pt x="0" y="5424605"/>
                </a:lnTo>
                <a:lnTo>
                  <a:pt x="0" y="0"/>
                </a:lnTo>
                <a:close/>
              </a:path>
            </a:pathLst>
          </a:custGeom>
          <a:blipFill>
            <a:blip r:embed="rId2"/>
            <a:stretch>
              <a:fillRect/>
            </a:stretch>
          </a:blipFill>
        </p:spPr>
      </p:sp>
      <p:sp>
        <p:nvSpPr>
          <p:cNvPr id="4" name="TextBox 4"/>
          <p:cNvSpPr txBox="1"/>
          <p:nvPr/>
        </p:nvSpPr>
        <p:spPr>
          <a:xfrm>
            <a:off x="1028700" y="1800560"/>
            <a:ext cx="14034598" cy="955845"/>
          </a:xfrm>
          <a:prstGeom prst="rect">
            <a:avLst/>
          </a:prstGeom>
        </p:spPr>
        <p:txBody>
          <a:bodyPr lIns="0" tIns="0" rIns="0" bIns="0" rtlCol="0" anchor="t">
            <a:spAutoFit/>
          </a:bodyPr>
          <a:lstStyle/>
          <a:p>
            <a:pPr marL="0" lvl="0" indent="0" algn="l">
              <a:lnSpc>
                <a:spcPts val="7686"/>
              </a:lnSpc>
            </a:pPr>
            <a:r>
              <a:rPr lang="en-US" sz="6052" spc="-242">
                <a:solidFill>
                  <a:srgbClr val="36211B"/>
                </a:solidFill>
                <a:latin typeface="IBM Plex Serif"/>
                <a:ea typeface="IBM Plex Serif"/>
                <a:cs typeface="IBM Plex Serif"/>
                <a:sym typeface="IBM Plex Serif"/>
              </a:rPr>
              <a:t>Application Screenshots</a:t>
            </a:r>
          </a:p>
        </p:txBody>
      </p:sp>
      <p:sp>
        <p:nvSpPr>
          <p:cNvPr id="5" name="TextBox 5"/>
          <p:cNvSpPr txBox="1"/>
          <p:nvPr/>
        </p:nvSpPr>
        <p:spPr>
          <a:xfrm>
            <a:off x="1028700" y="981075"/>
            <a:ext cx="8091140" cy="389297"/>
          </a:xfrm>
          <a:prstGeom prst="rect">
            <a:avLst/>
          </a:prstGeom>
        </p:spPr>
        <p:txBody>
          <a:bodyPr lIns="0" tIns="0" rIns="0" bIns="0" rtlCol="0" anchor="t">
            <a:spAutoFit/>
          </a:bodyPr>
          <a:lstStyle/>
          <a:p>
            <a:pPr marL="0" lvl="0" indent="0" algn="l">
              <a:lnSpc>
                <a:spcPts val="3217"/>
              </a:lnSpc>
              <a:spcBef>
                <a:spcPct val="0"/>
              </a:spcBef>
            </a:pPr>
            <a:r>
              <a:rPr lang="en-US" sz="2298" b="1">
                <a:solidFill>
                  <a:srgbClr val="36211B"/>
                </a:solidFill>
                <a:latin typeface="Canva Sans Bold"/>
                <a:ea typeface="Canva Sans Bold"/>
                <a:cs typeface="Canva Sans Bold"/>
                <a:sym typeface="Canva Sans Bold"/>
              </a:rPr>
              <a:t>Bloom skin Guide  Page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028700" y="13028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Future Scope</a:t>
            </a:r>
          </a:p>
        </p:txBody>
      </p:sp>
      <p:sp>
        <p:nvSpPr>
          <p:cNvPr id="4" name="TextBox 4"/>
          <p:cNvSpPr txBox="1"/>
          <p:nvPr/>
        </p:nvSpPr>
        <p:spPr>
          <a:xfrm>
            <a:off x="1475258" y="3502025"/>
            <a:ext cx="15147141" cy="594106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Advanced Condition Detection: Expand the model to recognize a wider range of dermatological conditions, including moles, rosacea, and eczema.</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Progress Tracking: Allow users to upload images over time to create a visual timeline of their skin's health and track the effectiveness of their routine.</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Personalised Product Recommendations: Integrate with e-commerce APIs to suggest specific, top-rated skincare products based on the analysis results.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Tele-Dermatology Link: Create a feature to connect users with certified dermatologists for a professional consultation directly through the platform.</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181100" y="14552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Conclusion:</a:t>
            </a:r>
          </a:p>
        </p:txBody>
      </p:sp>
      <p:sp>
        <p:nvSpPr>
          <p:cNvPr id="4" name="TextBox 4"/>
          <p:cNvSpPr txBox="1"/>
          <p:nvPr/>
        </p:nvSpPr>
        <p:spPr>
          <a:xfrm>
            <a:off x="1475258" y="3502025"/>
            <a:ext cx="15147141" cy="4855210"/>
          </a:xfrm>
          <a:prstGeom prst="rect">
            <a:avLst/>
          </a:prstGeom>
        </p:spPr>
        <p:txBody>
          <a:bodyPr lIns="0" tIns="0" rIns="0" bIns="0" rtlCol="0" anchor="t">
            <a:spAutoFit/>
          </a:bodyPr>
          <a:lstStyle/>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The MobileNetV2 model achieved around 85% accuracy in identifying acne, dark spots, and pimples on the validation dataset.</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The system offers real-time, personalized care suggestions based on detected skin conditions.</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Enables end-to-end accessibility, allowing instant self-assessment from image upload to result display.</a:t>
            </a:r>
          </a:p>
          <a:p>
            <a:pPr marL="669286" lvl="1" indent="-334643" algn="just">
              <a:lnSpc>
                <a:spcPts val="4339"/>
              </a:lnSpc>
              <a:buFont typeface="Arial"/>
              <a:buChar char="•"/>
            </a:pPr>
            <a:r>
              <a:rPr lang="en-US" sz="3099" b="1">
                <a:solidFill>
                  <a:srgbClr val="36211B"/>
                </a:solidFill>
                <a:latin typeface="Canva Sans Bold"/>
                <a:ea typeface="Canva Sans Bold"/>
                <a:cs typeface="Canva Sans Bold"/>
                <a:sym typeface="Canva Sans Bold"/>
              </a:rPr>
              <a:t>Serves as a powerful AI tool bridging the gap to professional care while empowering users.</a:t>
            </a:r>
          </a:p>
          <a:p>
            <a:pPr algn="just">
              <a:lnSpc>
                <a:spcPts val="4339"/>
              </a:lnSpc>
            </a:pPr>
            <a:endParaRPr lang="en-US" sz="3099" b="1">
              <a:solidFill>
                <a:srgbClr val="36211B"/>
              </a:solidFill>
              <a:latin typeface="Canva Sans Bold"/>
              <a:ea typeface="Canva Sans Bold"/>
              <a:cs typeface="Canva Sans Bold"/>
              <a:sym typeface="Canva Sans Bo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8E6E3"/>
        </a:solidFill>
        <a:effectLst/>
      </p:bgPr>
    </p:bg>
    <p:spTree>
      <p:nvGrpSpPr>
        <p:cNvPr id="1" name=""/>
        <p:cNvGrpSpPr/>
        <p:nvPr/>
      </p:nvGrpSpPr>
      <p:grpSpPr>
        <a:xfrm>
          <a:off x="0" y="0"/>
          <a:ext cx="0" cy="0"/>
          <a:chOff x="0" y="0"/>
          <a:chExt cx="0" cy="0"/>
        </a:xfrm>
      </p:grpSpPr>
      <p:sp>
        <p:nvSpPr>
          <p:cNvPr id="2" name="Freeform 2"/>
          <p:cNvSpPr/>
          <p:nvPr/>
        </p:nvSpPr>
        <p:spPr>
          <a:xfrm>
            <a:off x="0" y="9910777"/>
            <a:ext cx="18288000" cy="376223"/>
          </a:xfrm>
          <a:custGeom>
            <a:avLst/>
            <a:gdLst/>
            <a:ahLst/>
            <a:cxnLst/>
            <a:rect l="l" t="t" r="r" b="b"/>
            <a:pathLst>
              <a:path w="18288000" h="376223">
                <a:moveTo>
                  <a:pt x="0" y="0"/>
                </a:moveTo>
                <a:lnTo>
                  <a:pt x="18288000" y="0"/>
                </a:lnTo>
                <a:lnTo>
                  <a:pt x="18288000" y="376223"/>
                </a:lnTo>
                <a:lnTo>
                  <a:pt x="0" y="376223"/>
                </a:lnTo>
                <a:lnTo>
                  <a:pt x="0" y="0"/>
                </a:lnTo>
                <a:close/>
              </a:path>
            </a:pathLst>
          </a:custGeom>
          <a:blipFill>
            <a:blip r:embed="rId2"/>
            <a:stretch>
              <a:fillRect t="-1531929" b="-1102351"/>
            </a:stretch>
          </a:blipFill>
        </p:spPr>
      </p:sp>
      <p:sp>
        <p:nvSpPr>
          <p:cNvPr id="3" name="TextBox 3"/>
          <p:cNvSpPr txBox="1"/>
          <p:nvPr/>
        </p:nvSpPr>
        <p:spPr>
          <a:xfrm>
            <a:off x="1181100" y="1455216"/>
            <a:ext cx="16230600" cy="1094740"/>
          </a:xfrm>
          <a:prstGeom prst="rect">
            <a:avLst/>
          </a:prstGeom>
        </p:spPr>
        <p:txBody>
          <a:bodyPr lIns="0" tIns="0" rIns="0" bIns="0" rtlCol="0" anchor="t">
            <a:spAutoFit/>
          </a:bodyPr>
          <a:lstStyle/>
          <a:p>
            <a:pPr algn="l">
              <a:lnSpc>
                <a:spcPts val="8959"/>
              </a:lnSpc>
            </a:pPr>
            <a:r>
              <a:rPr lang="en-US" sz="6399" spc="-255">
                <a:solidFill>
                  <a:srgbClr val="36211B"/>
                </a:solidFill>
                <a:latin typeface="IBM Plex Serif"/>
                <a:ea typeface="IBM Plex Serif"/>
                <a:cs typeface="IBM Plex Serif"/>
                <a:sym typeface="IBM Plex Serif"/>
              </a:rPr>
              <a:t>Refrences:</a:t>
            </a:r>
          </a:p>
        </p:txBody>
      </p:sp>
      <p:sp>
        <p:nvSpPr>
          <p:cNvPr id="4" name="TextBox 4"/>
          <p:cNvSpPr txBox="1"/>
          <p:nvPr/>
        </p:nvSpPr>
        <p:spPr>
          <a:xfrm>
            <a:off x="1722830" y="3042299"/>
            <a:ext cx="15147141" cy="5934710"/>
          </a:xfrm>
          <a:prstGeom prst="rect">
            <a:avLst/>
          </a:prstGeom>
        </p:spPr>
        <p:txBody>
          <a:bodyPr lIns="0" tIns="0" rIns="0" bIns="0" rtlCol="0" anchor="t">
            <a:spAutoFit/>
          </a:bodyPr>
          <a:lstStyle/>
          <a:p>
            <a:pPr algn="just">
              <a:lnSpc>
                <a:spcPts val="3639"/>
              </a:lnSpc>
            </a:pPr>
            <a:r>
              <a:rPr lang="en-US" sz="2599" b="1">
                <a:solidFill>
                  <a:srgbClr val="36211B"/>
                </a:solidFill>
                <a:latin typeface="Canva Sans Bold"/>
                <a:ea typeface="Canva Sans Bold"/>
                <a:cs typeface="Canva Sans Bold"/>
                <a:sym typeface="Canva Sans Bold"/>
              </a:rPr>
              <a:t>[1] Zagrouba, E., &amp; Barhoumi, W. (2005). ”A preliminary system for skin lesion segmentation using texture analysis,” 3rd International Conference: Sciences of Electronic, Technologies of Information and Telecommunications (SETIT).</a:t>
            </a:r>
          </a:p>
          <a:p>
            <a:pPr algn="just">
              <a:lnSpc>
                <a:spcPts val="3639"/>
              </a:lnSpc>
            </a:pPr>
            <a:r>
              <a:rPr lang="en-US" sz="2599" b="1">
                <a:solidFill>
                  <a:srgbClr val="36211B"/>
                </a:solidFill>
                <a:latin typeface="Canva Sans Bold"/>
                <a:ea typeface="Canva Sans Bold"/>
                <a:cs typeface="Canva Sans Bold"/>
                <a:sym typeface="Canva Sans Bold"/>
              </a:rPr>
              <a:t>[2] Rinki Tyagi, Nihal Singh, Akanksha Baghel, Ankita Singh, “Resume Builder Application”, ISSN: 2321- 9653; IC Value: 45.98; SJ Impact Factor:7.429, Volume 8 Issue V May 2020. </a:t>
            </a:r>
          </a:p>
          <a:p>
            <a:pPr algn="just">
              <a:lnSpc>
                <a:spcPts val="3639"/>
              </a:lnSpc>
            </a:pPr>
            <a:r>
              <a:rPr lang="en-US" sz="2599" b="1">
                <a:solidFill>
                  <a:srgbClr val="36211B"/>
                </a:solidFill>
                <a:latin typeface="Canva Sans Bold"/>
                <a:ea typeface="Canva Sans Bold"/>
                <a:cs typeface="Canva Sans Bold"/>
                <a:sym typeface="Canva Sans Bold"/>
              </a:rPr>
              <a:t>[3] Esteva, A., Kuprel, B., Novoa, R. A., Ko, J., Swetter, S. M., Blau, H. M., &amp; Thrun, S. (2017). “Dermatologist-level classification of skin cancer with deep neural networks,” Nature, 542(7639), 115-118. </a:t>
            </a:r>
          </a:p>
          <a:p>
            <a:pPr algn="just">
              <a:lnSpc>
                <a:spcPts val="3639"/>
              </a:lnSpc>
            </a:pPr>
            <a:r>
              <a:rPr lang="en-US" sz="2599" b="1">
                <a:solidFill>
                  <a:srgbClr val="36211B"/>
                </a:solidFill>
                <a:latin typeface="Canva Sans Bold"/>
                <a:ea typeface="Canva Sans Bold"/>
                <a:cs typeface="Canva Sans Bold"/>
                <a:sym typeface="Canva Sans Bold"/>
              </a:rPr>
              <a:t>[4] Howard, A. G., Zhu, M., Chen, B., et al. (2017). “MobileNets: Efficient con volutional neural networks for mobile vision applications,” arXiv preprint arXiv:1704.04861. </a:t>
            </a:r>
          </a:p>
          <a:p>
            <a:pPr algn="just">
              <a:lnSpc>
                <a:spcPts val="3639"/>
              </a:lnSpc>
            </a:pPr>
            <a:r>
              <a:rPr lang="en-US" sz="2599" b="1">
                <a:solidFill>
                  <a:srgbClr val="36211B"/>
                </a:solidFill>
                <a:latin typeface="Canva Sans Bold"/>
                <a:ea typeface="Canva Sans Bold"/>
                <a:cs typeface="Canva Sans Bold"/>
                <a:sym typeface="Canva Sans Bold"/>
              </a:rPr>
              <a:t>[5] Sandler, M., Howard, A., Zhu, M., Zhmoginov, A., &amp; Chen, L. C. (2018). “MobileNetV2: Inverted residuals and linear bottlenecks,” In Proceedings of the IEEE conference on computer vision and pattern recognition (pp. 4510-4520).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3029214"/>
            <a:ext cx="18288000" cy="6158912"/>
            <a:chOff x="0" y="0"/>
            <a:chExt cx="24384000" cy="8211882"/>
          </a:xfrm>
        </p:grpSpPr>
        <p:sp>
          <p:nvSpPr>
            <p:cNvPr id="4" name="Freeform 4"/>
            <p:cNvSpPr/>
            <p:nvPr/>
          </p:nvSpPr>
          <p:spPr>
            <a:xfrm>
              <a:off x="0" y="0"/>
              <a:ext cx="24384000" cy="8211820"/>
            </a:xfrm>
            <a:custGeom>
              <a:avLst/>
              <a:gdLst/>
              <a:ahLst/>
              <a:cxnLst/>
              <a:rect l="l" t="t" r="r" b="b"/>
              <a:pathLst>
                <a:path w="24384000" h="8211820">
                  <a:moveTo>
                    <a:pt x="0" y="0"/>
                  </a:moveTo>
                  <a:lnTo>
                    <a:pt x="24384000" y="0"/>
                  </a:lnTo>
                  <a:lnTo>
                    <a:pt x="24384000" y="8211820"/>
                  </a:lnTo>
                  <a:lnTo>
                    <a:pt x="0" y="8211820"/>
                  </a:lnTo>
                  <a:close/>
                </a:path>
              </a:pathLst>
            </a:custGeom>
            <a:gradFill rotWithShape="1">
              <a:gsLst>
                <a:gs pos="0">
                  <a:srgbClr val="DFDBD5">
                    <a:alpha val="0"/>
                  </a:srgbClr>
                </a:gs>
                <a:gs pos="100000">
                  <a:srgbClr val="DFDBD5">
                    <a:alpha val="100000"/>
                  </a:srgbClr>
                </a:gs>
              </a:gsLst>
              <a:lin ang="5400000"/>
            </a:gradFill>
          </p:spPr>
        </p:sp>
      </p:grpSp>
      <p:sp>
        <p:nvSpPr>
          <p:cNvPr id="5" name="Freeform 5"/>
          <p:cNvSpPr/>
          <p:nvPr/>
        </p:nvSpPr>
        <p:spPr>
          <a:xfrm>
            <a:off x="0" y="9189720"/>
            <a:ext cx="18288000" cy="1114425"/>
          </a:xfrm>
          <a:custGeom>
            <a:avLst/>
            <a:gdLst/>
            <a:ahLst/>
            <a:cxnLst/>
            <a:rect l="l" t="t" r="r" b="b"/>
            <a:pathLst>
              <a:path w="18288000" h="1114425">
                <a:moveTo>
                  <a:pt x="0" y="0"/>
                </a:moveTo>
                <a:lnTo>
                  <a:pt x="18288000" y="0"/>
                </a:lnTo>
                <a:lnTo>
                  <a:pt x="18288000" y="1114425"/>
                </a:lnTo>
                <a:lnTo>
                  <a:pt x="0" y="1114425"/>
                </a:lnTo>
                <a:lnTo>
                  <a:pt x="0" y="0"/>
                </a:lnTo>
                <a:close/>
              </a:path>
            </a:pathLst>
          </a:custGeom>
          <a:blipFill>
            <a:blip r:embed="rId3"/>
            <a:stretch>
              <a:fillRect t="-1538" b="1537"/>
            </a:stretch>
          </a:blipFill>
        </p:spPr>
      </p:sp>
      <p:sp>
        <p:nvSpPr>
          <p:cNvPr id="6" name="AutoShape 6"/>
          <p:cNvSpPr/>
          <p:nvPr/>
        </p:nvSpPr>
        <p:spPr>
          <a:xfrm rot="3577">
            <a:off x="-9530" y="9192620"/>
            <a:ext cx="18307060" cy="0"/>
          </a:xfrm>
          <a:prstGeom prst="line">
            <a:avLst/>
          </a:prstGeom>
          <a:ln w="9525" cap="rnd">
            <a:solidFill>
              <a:srgbClr val="000001">
                <a:alpha val="19608"/>
              </a:srgbClr>
            </a:solidFill>
            <a:prstDash val="solid"/>
            <a:headEnd type="none" w="sm" len="sm"/>
            <a:tailEnd type="none" w="sm" len="sm"/>
          </a:ln>
        </p:spPr>
      </p:sp>
      <p:sp>
        <p:nvSpPr>
          <p:cNvPr id="7" name="AutoShape 7"/>
          <p:cNvSpPr/>
          <p:nvPr/>
        </p:nvSpPr>
        <p:spPr>
          <a:xfrm rot="11323">
            <a:off x="2156992" y="2761107"/>
            <a:ext cx="14458986" cy="0"/>
          </a:xfrm>
          <a:prstGeom prst="line">
            <a:avLst/>
          </a:prstGeom>
          <a:ln w="28575" cap="rnd">
            <a:solidFill>
              <a:srgbClr val="B71E42"/>
            </a:solidFill>
            <a:prstDash val="solid"/>
            <a:headEnd type="none" w="sm" len="sm"/>
            <a:tailEnd type="none" w="sm" len="sm"/>
          </a:ln>
        </p:spPr>
      </p:sp>
      <p:grpSp>
        <p:nvGrpSpPr>
          <p:cNvPr id="8" name="Group 8"/>
          <p:cNvGrpSpPr/>
          <p:nvPr/>
        </p:nvGrpSpPr>
        <p:grpSpPr>
          <a:xfrm>
            <a:off x="5026596" y="4119715"/>
            <a:ext cx="8234808" cy="1573852"/>
            <a:chOff x="0" y="0"/>
            <a:chExt cx="10979744" cy="2098470"/>
          </a:xfrm>
        </p:grpSpPr>
        <p:sp>
          <p:nvSpPr>
            <p:cNvPr id="9" name="Freeform 9"/>
            <p:cNvSpPr/>
            <p:nvPr/>
          </p:nvSpPr>
          <p:spPr>
            <a:xfrm>
              <a:off x="0" y="0"/>
              <a:ext cx="10979744" cy="2098470"/>
            </a:xfrm>
            <a:custGeom>
              <a:avLst/>
              <a:gdLst/>
              <a:ahLst/>
              <a:cxnLst/>
              <a:rect l="l" t="t" r="r" b="b"/>
              <a:pathLst>
                <a:path w="10979744" h="2098470">
                  <a:moveTo>
                    <a:pt x="0" y="0"/>
                  </a:moveTo>
                  <a:lnTo>
                    <a:pt x="10979744" y="0"/>
                  </a:lnTo>
                  <a:lnTo>
                    <a:pt x="10979744" y="2098470"/>
                  </a:lnTo>
                  <a:lnTo>
                    <a:pt x="0" y="2098470"/>
                  </a:lnTo>
                  <a:close/>
                </a:path>
              </a:pathLst>
            </a:custGeom>
            <a:solidFill>
              <a:srgbClr val="000000">
                <a:alpha val="0"/>
              </a:srgbClr>
            </a:solidFill>
          </p:spPr>
        </p:sp>
        <p:sp>
          <p:nvSpPr>
            <p:cNvPr id="10" name="TextBox 10"/>
            <p:cNvSpPr txBox="1"/>
            <p:nvPr/>
          </p:nvSpPr>
          <p:spPr>
            <a:xfrm>
              <a:off x="0" y="-76200"/>
              <a:ext cx="10979744" cy="2174670"/>
            </a:xfrm>
            <a:prstGeom prst="rect">
              <a:avLst/>
            </a:prstGeom>
          </p:spPr>
          <p:txBody>
            <a:bodyPr lIns="0" tIns="0" rIns="0" bIns="0" rtlCol="0" anchor="t"/>
            <a:lstStyle/>
            <a:p>
              <a:pPr algn="l">
                <a:lnSpc>
                  <a:spcPts val="10692"/>
                </a:lnSpc>
              </a:pPr>
              <a:r>
                <a:rPr lang="en-US" sz="9900">
                  <a:solidFill>
                    <a:srgbClr val="000000"/>
                  </a:solidFill>
                  <a:latin typeface="Times New Roman"/>
                  <a:ea typeface="Times New Roman"/>
                  <a:cs typeface="Times New Roman"/>
                  <a:sym typeface="Times New Roman"/>
                </a:rPr>
                <a:t>Thank You !</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1077</Words>
  <Application>Microsoft Office PowerPoint</Application>
  <PresentationFormat>Custom</PresentationFormat>
  <Paragraphs>98</Paragraphs>
  <Slides>20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Canva Sans Bold</vt:lpstr>
      <vt:lpstr>IBM Plex Serif</vt:lpstr>
      <vt:lpstr>Arial</vt:lpstr>
      <vt:lpstr>Canva Sans</vt:lpstr>
      <vt:lpstr>Times New Roman</vt:lpstr>
      <vt:lpstr>IBM Plex Serif Italics</vt:lpstr>
      <vt:lpstr>Calibri</vt:lpstr>
      <vt:lpstr>Times New Roman Bold</vt:lpstr>
      <vt:lpstr>Open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dc:title>
  <cp:lastModifiedBy>rasika rakhewar</cp:lastModifiedBy>
  <cp:revision>4</cp:revision>
  <dcterms:created xsi:type="dcterms:W3CDTF">2006-08-16T00:00:00Z</dcterms:created>
  <dcterms:modified xsi:type="dcterms:W3CDTF">2026-05-01T19:52:58Z</dcterms:modified>
  <dc:identifier>DAGq8xjpxlw</dc:identifier>
</cp:coreProperties>
</file>